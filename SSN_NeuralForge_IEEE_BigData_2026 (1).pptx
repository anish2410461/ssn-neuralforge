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b0e8884-23f0-ae2d-1ab2-ca3d688bfd89}">
          <p14:sldIdLst>
            <p14:sldId id="256"/>
          </p14:sldIdLst>
        </p14:section>
        <p14:section name="Problem" id="{49432c52-8853-a441-7eae-9ec3e4766844}">
          <p14:sldIdLst>
            <p14:sldId id="257"/>
            <p14:sldId id="258"/>
          </p14:sldIdLst>
        </p14:section>
        <p14:section name="Method" id="{dc3ab1ab-991b-7ef2-21f0-b4fe58620d24}">
          <p14:sldIdLst>
            <p14:sldId id="259"/>
            <p14:sldId id="260"/>
            <p14:sldId id="261"/>
          </p14:sldIdLst>
        </p14:section>
        <p14:section name="Results" id="{a9a472b0-d2c9-593d-faa6-42f6cd5e78ff}">
          <p14:sldIdLst>
            <p14:sldId id="262"/>
            <p14:sldId id="263"/>
            <p14:sldId id="264"/>
            <p14:sldId id="265"/>
          </p14:sldIdLst>
        </p14:section>
        <p14:section name="Discussion" id="{dfcf1605-784b-8710-fe9c-78f32673bd48}">
          <p14:sldIdLst>
            <p14:sldId id="266"/>
            <p14:sldId id="267"/>
            <p14:sldId id="268"/>
          </p14:sldIdLst>
        </p14:section>
        <p14:section name="Close" id="{edb49aee-2549-fece-6051-9b8572f6f241}">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mn-lt"/>
              </a:defRPr>
            </a:pPr>
            <a:r>
              <a:rPr sz="1200" b="0" i="0" u="none" strike="noStrike">
                <a:solidFill>
                  <a:srgbClr val="0B1F3A"/>
                </a:solidFill>
                <a:latin typeface="+mn-lt"/>
              </a:rPr>
              <a:t>Risk Weighted F1 by seed (axis starts at 0.5)</a:t>
            </a:r>
          </a:p>
        </c:rich>
      </c:tx>
      <c:layout/>
      <c:overlay val="0"/>
    </c:title>
    <c:autoTitleDeleted val="0"/>
    <c:plotArea>
      <c:layout/>
      <c:barChart>
        <c:barDir val="col"/>
        <c:grouping val="clustered"/>
        <c:varyColors val="0"/>
        <c:ser>
          <c:idx val="0"/>
          <c:order val="0"/>
          <c:tx>
            <c:strRef>
              <c:f>Sheet1!$B$1</c:f>
              <c:strCache>
                <c:ptCount val="1"/>
                <c:pt idx="0">
                  <c:v>Word-only</c:v>
                </c:pt>
              </c:strCache>
            </c:strRef>
          </c:tx>
          <c:spPr>
            <a:solidFill>
              <a:srgbClr val="9AA8B8"/>
            </a:solidFill>
            <a:effectLst/>
          </c:spPr>
          <c:invertIfNegative val="0"/>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Sheet1!$A$2:$A$6</c:f>
              <c:multiLvlStrCache>
                <c:ptCount val="5"/>
                <c:lvl>
                  <c:pt idx="0">
                    <c:v>42</c:v>
                  </c:pt>
                  <c:pt idx="1">
                    <c:v>52</c:v>
                  </c:pt>
                  <c:pt idx="2">
                    <c:v>62</c:v>
                  </c:pt>
                  <c:pt idx="3">
                    <c:v>72</c:v>
                  </c:pt>
                  <c:pt idx="4">
                    <c:v>82</c:v>
                  </c:pt>
                </c:lvl>
              </c:multiLvlStrCache>
            </c:multiLvlStrRef>
          </c:cat>
          <c:val>
            <c:numRef>
              <c:f>Sheet1!$B$2:$B$6</c:f>
              <c:numCache>
                <c:formatCode>General</c:formatCode>
                <c:ptCount val="5"/>
                <c:pt idx="0">
                  <c:v>0.64</c:v>
                </c:pt>
                <c:pt idx="1">
                  <c:v>0.6505</c:v>
                </c:pt>
                <c:pt idx="2">
                  <c:v>0.5876</c:v>
                </c:pt>
                <c:pt idx="3">
                  <c:v>0.5979</c:v>
                </c:pt>
                <c:pt idx="4">
                  <c:v>0.614</c:v>
                </c:pt>
              </c:numCache>
            </c:numRef>
          </c:val>
        </c:ser>
        <c:ser>
          <c:idx val="1"/>
          <c:order val="1"/>
          <c:tx>
            <c:strRef>
              <c:f>Sheet1!$C$1</c:f>
              <c:strCache>
                <c:ptCount val="1"/>
                <c:pt idx="0">
                  <c:v>Word + char</c:v>
                </c:pt>
              </c:strCache>
            </c:strRef>
          </c:tx>
          <c:spPr>
            <a:solidFill>
              <a:srgbClr val="0FA3B1"/>
            </a:solidFill>
            <a:effectLst/>
          </c:spPr>
          <c:invertIfNegative val="0"/>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Sheet1!$A$2:$A$6</c:f>
              <c:multiLvlStrCache>
                <c:ptCount val="5"/>
                <c:lvl>
                  <c:pt idx="0">
                    <c:v>42</c:v>
                  </c:pt>
                  <c:pt idx="1">
                    <c:v>52</c:v>
                  </c:pt>
                  <c:pt idx="2">
                    <c:v>62</c:v>
                  </c:pt>
                  <c:pt idx="3">
                    <c:v>72</c:v>
                  </c:pt>
                  <c:pt idx="4">
                    <c:v>82</c:v>
                  </c:pt>
                </c:lvl>
              </c:multiLvlStrCache>
            </c:multiLvlStrRef>
          </c:cat>
          <c:val>
            <c:numRef>
              <c:f>Sheet1!$C$2:$C$6</c:f>
              <c:numCache>
                <c:formatCode>General</c:formatCode>
                <c:ptCount val="5"/>
                <c:pt idx="0">
                  <c:v>0.6472</c:v>
                </c:pt>
                <c:pt idx="1">
                  <c:v>0.661</c:v>
                </c:pt>
                <c:pt idx="2">
                  <c:v>0.6006</c:v>
                </c:pt>
                <c:pt idx="3">
                  <c:v>0.6118</c:v>
                </c:pt>
                <c:pt idx="4">
                  <c:v>0.6514</c:v>
                </c:pt>
              </c:numCache>
            </c:numRef>
          </c:val>
        </c:ser>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B7F"/>
                    </a:solidFill>
                    <a:latin typeface="Arial"/>
                  </a:defRPr>
                </a:pPr>
                <a:r>
                  <a:rPr sz="1000" b="0" i="0" u="none" strike="noStrike">
                    <a:solidFill>
                      <a:srgbClr val="5B6B7F"/>
                    </a:solidFill>
                    <a:latin typeface="Arial"/>
                  </a:rPr>
                  <a:t>Random seed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0.7"/>
          <c:min val="0.5"/>
        </c:scaling>
        <c:delete val="0"/>
        <c:axPos val="l"/>
        <c:majorGridlines>
          <c:spPr>
            <a:ln w="6350" cap="flat">
              <a:solidFill>
                <a:srgbClr val="D3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mn-lt"/>
              </a:defRPr>
            </a:pPr>
            <a:r>
              <a:rPr sz="1200" b="0" i="0" u="none" strike="noStrike">
                <a:solidFill>
                  <a:srgbClr val="0B1F3A"/>
                </a:solidFill>
                <a:latin typeface="+mn-lt"/>
              </a:rPr>
              <a:t>Risk F1 by class (validation)</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2E5E8C"/>
            </a:solidFill>
            <a:effectLst/>
          </c:spPr>
          <c:invertIfNegative val="0"/>
          <c:dLbls>
            <c:numFmt formatCode="0.000" sourceLinked="0"/>
            <c:txPr>
              <a:bodyPr/>
              <a:lstStyle/>
              <a:p>
                <a:pPr>
                  <a:defRPr b="0" i="0" strike="noStrike" sz="1000" u="none">
                    <a:solidFill>
                      <a:srgbClr val="0B1F3A"/>
                    </a:solidFill>
                    <a:latin typeface="+mn-lt"/>
                  </a:defRPr>
                </a:pPr>
              </a:p>
            </c:txPr>
            <c:showLegendKey val="0"/>
            <c:showVal val="1"/>
            <c:showCatName val="0"/>
            <c:showSerName val="0"/>
            <c:showPercent val="0"/>
            <c:showBubbleSize val="0"/>
            <c:showLeaderLines val="0"/>
          </c:dLbls>
          <c:cat>
            <c:multiLvlStrRef>
              <c:f>Sheet1!$A$2:$A$5</c:f>
              <c:multiLvlStrCache>
                <c:ptCount val="4"/>
                <c:lvl>
                  <c:pt idx="0">
                    <c:v>Indicator</c:v>
                  </c:pt>
                  <c:pt idx="1">
                    <c:v>Ideation</c:v>
                  </c:pt>
                  <c:pt idx="2">
                    <c:v>Behavior</c:v>
                  </c:pt>
                  <c:pt idx="3">
                    <c:v>Attempt</c:v>
                  </c:pt>
                </c:lvl>
              </c:multiLvlStrCache>
            </c:multiLvlStrRef>
          </c:cat>
          <c:val>
            <c:numRef>
              <c:f>Sheet1!$B$2:$B$5</c:f>
              <c:numCache>
                <c:formatCode>General</c:formatCode>
                <c:ptCount val="4"/>
                <c:pt idx="0">
                  <c:v>0.796</c:v>
                </c:pt>
                <c:pt idx="1">
                  <c:v>0.571</c:v>
                </c:pt>
                <c:pt idx="2">
                  <c:v>0.536</c:v>
                </c:pt>
                <c:pt idx="3">
                  <c:v>0.415</c:v>
                </c:pt>
              </c:numCache>
            </c:numRef>
          </c:val>
        </c:ser>
        <c:dLbls>
          <c:numFmt formatCode="0.000" sourceLinked="0"/>
          <c:txPr>
            <a:bodyPr/>
            <a:lstStyle/>
            <a:p>
              <a:pPr>
                <a:defRPr b="0" i="0" strike="noStrike" sz="1000" u="none">
                  <a:solidFill>
                    <a:srgbClr val="0B1F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3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(~0:20)
SAY: "We are SSN NeuralForge from SSN College of Engineering. Our system does not only predict suicide risk; it shows the text evidence and factors behind each prediction."
KEY POINT: multi-task explainable NLP framework for IEEE BigData 2026 challenge.
REMEMBER: explainability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(~0:40)
SAY: "Risk language in online posts is indirect and context-dependent. A bare label is hard to audit, so we ask the model to show why."
KEY POINT: classification + evidence enables human review.
REMEMBER: the goal is decision support for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(~0:40)
SAY: "Subtask 1 asks for a four-class risk label plus supporting evidence phrases; Subtask 2 asks for 24-category multi-label factors. Training has 1,635 labeled posts; leaderboard has 378 unlabeled."
KEY POINT: one post -&gt; three outputs.
REMEMBER: classification alone is not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(~0:45)
SAY: "Standard pipeline with two safeguards: a leakage check, and a validation split grouped by user so no user appears in both train and validation (122 vs 31 users)."
KEY POINT: user-grouped split avoids optimistic scores.
REMEMBER: 1,635 train, 378 leaderboard, 24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(~1:00)
SAY: "One preprocessed post feeds three parallel branches. Risk uses word and character TF-IDF with logistic regression. Evidence scores candidate spans and keeps those above a tuned threshold. Factors use one-vs-rest logistic regression with a threshold per factor. Together they form one explainable output."
KEY POINT: lightweight, interpretable linear models.
REMEMBER: three branches, one explainable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(~1:00)
SAY: "Linear models on TF-IDF keep every decision inspectable. The key explainability property: the extractor only selects text from the post; it cannot invent or paraphrase."
KEY POINT: verbatim evidence; per-factor thresholds.
REMEMBER: nothing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(~0:50)
SAY: "We improved the system stepwise. Adding character 3-5-gram TF-IDF to word n-grams improved risk Weighted F1 on all five seeds, with the mean rising from 0.618 to 0.634. Phrase-level evidence beat sentence-level, and per-factor thresholds beat a global 0.5 on one split."
KEY POINT: improvements measured over multiple seeds where available.
REMEMBER: evidence and factor gains are single-split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(~1:00)
SAY: "This is a real annotated example from the training set: label Ideation, evidence 'wanna die', factor hopelessness. The same three-part output is what the system produces for unseen posts. Spans are exact substrings; our validation script checked 323 submitted spans and found none that were not verbatim."
KEY POINT: shown values are the dataset annotation, illustrating the output format.
REMEMBER: evidence is extracted, never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(~1:00)
SAY: "On our held-out validation split: risk Weighted F1 0.647, evidence Phrase F1 0.560, factor Macro F1 0.442. These are validation scores, not leaderboard scores. Per class, Indicator is strongest at 0.80, Attempt weakest at 0.42 because it is rare."
KEY POINT: be explicit that these are validation numbers with different metrics.
REMEMBER: risk strongest, factors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(~0:50)
SAY: "Model selection did not rest on one lucky split. We repeated user-grouped validation over five seeds; mean 0.634, standard deviation 0.024. Logistic regression was selected over linear SVM and a LogReg+SVM ensemble. We did not run significance tests."
KEY POINT: seed variance (0.60-0.66) is substantial, which is why we average.
REMEMBER: selection by measured validation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(~0:50)
SAY: "Five takeaways: risk is strongest; character n-grams help informal text; evidence replaces a black-box label; factors are hard because of 24 imbalanced labels; and per-factor thresholds help, though they were tuned on the validation split, so the gain is optimistic."
KEY POINT: honest framing of tuning bias.
REMEMBER: no exaggeration.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(~0:50)
SAY: "This is a research prototype. Data is small, language is ambiguous, factor prediction is weak and over-predicts, and errors in both directions are possible. It should only support trained human reviewers."
KEY POINT: responsible-AI framing.
REMEMBER: assist, not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(~0:40)
SAY: "The Transformer components are implemented but we have not evaluated them to completion, so we report no Transformer result. Next steps are explainable Transformers, calibration, external validation, and human-in-the-loop and fairness studies."
KEY POINT: implemented vs future is clearly separated.
REMEMBER: no unevaluated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(~0:30)
SAY: "We built an explainable multi-task pipeline whose outputs are a risk level, verbatim evidence and factors. Explainable AI should assist human judgment, not replace it. Thank you; happy to take questions."
KEY POINT: contribution = classification + evidence + factors + validation.
REMEMBER: assist, not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3"/>
                </a:solidFill>
              </a:rPr>
              <a:t>SSN NeuralForge  |  IEEE BigData 2026</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4"/>
                </a:solidFill>
              </a:rPr>
              <a:t>SSN NeuralForge  |  IEEE BigData 2026</a:t>
            </a:r>
            <a:endParaRPr lang="en-US" sz="1000" dirty="0"/>
          </a:p>
        </p:txBody>
      </p:sp>
      <p:sp>
        <p:nvSpPr>
          <p:cNvPr id="3" name="Text 1"/>
          <p:cNvSpPr/>
          <p:nvPr>
            <p:ph idx="101" type="title" hasCustomPrompt="1"/>
          </p:nvPr>
        </p:nvSpPr>
        <p:spPr>
          <a:xfrm>
            <a:off x="548640" y="365760"/>
            <a:ext cx="804672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88720"/>
            <a:ext cx="5303520" cy="13716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Explainable Suicide Risk</a:t>
            </a:r>
            <a:endParaRPr lang="en-US" sz="3400" dirty="0"/>
          </a:p>
          <a:p>
            <a:pPr indent="0" marL="0">
              <a:buNone/>
            </a:pPr>
            <a:r>
              <a:rPr lang="en-US" sz="3400" b="1" dirty="0">
                <a:solidFill>
                  <a:schemeClr val="bg1"/>
                </a:solidFill>
                <a:latin typeface="Cambria" pitchFamily="34" charset="0"/>
                <a:ea typeface="Cambria" pitchFamily="34" charset="-122"/>
                <a:cs typeface="Cambria" pitchFamily="34" charset="-120"/>
              </a:rPr>
              <a:t>Detection Using NLP</a:t>
            </a:r>
            <a:endParaRPr lang="en-US" sz="3400" dirty="0"/>
          </a:p>
        </p:txBody>
      </p:sp>
      <p:sp>
        <p:nvSpPr>
          <p:cNvPr id="3" name="Text 1"/>
          <p:cNvSpPr txBox="1"/>
          <p:nvPr/>
        </p:nvSpPr>
        <p:spPr>
          <a:xfrm>
            <a:off x="548640" y="2697480"/>
            <a:ext cx="5120640" cy="640080"/>
          </a:xfrm>
          <a:prstGeom prst="rect">
            <a:avLst/>
          </a:prstGeom>
          <a:noFill/>
          <a:ln/>
        </p:spPr>
        <p:txBody>
          <a:bodyPr wrap="square" lIns="0" tIns="0" rIns="0" bIns="0" rtlCol="0" anchor="t"/>
          <a:lstStyle/>
          <a:p>
            <a:pPr algn="l" indent="0" marL="0">
              <a:buNone/>
            </a:pPr>
            <a:r>
              <a:rPr lang="en-US" sz="1600" dirty="0">
                <a:solidFill>
                  <a:schemeClr val="accent4"/>
                </a:solidFill>
              </a:rPr>
              <a:t>IEEE BigData 2026 — Explainable Suicide Risk Detection Challenge</a:t>
            </a:r>
            <a:endParaRPr lang="en-US" sz="1600" dirty="0"/>
          </a:p>
        </p:txBody>
      </p:sp>
      <p:sp>
        <p:nvSpPr>
          <p:cNvPr id="4" name="Text 2"/>
          <p:cNvSpPr txBox="1"/>
          <p:nvPr/>
        </p:nvSpPr>
        <p:spPr>
          <a:xfrm>
            <a:off x="548640" y="3520440"/>
            <a:ext cx="5120640" cy="365760"/>
          </a:xfrm>
          <a:prstGeom prst="rect">
            <a:avLst/>
          </a:prstGeom>
          <a:noFill/>
          <a:ln/>
        </p:spPr>
        <p:txBody>
          <a:bodyPr wrap="square" lIns="0" tIns="0" rIns="0" bIns="0" rtlCol="0" anchor="ctr"/>
          <a:lstStyle/>
          <a:p>
            <a:pPr indent="0" marL="0">
              <a:buNone/>
            </a:pPr>
            <a:r>
              <a:rPr lang="en-US" sz="2200" b="1" dirty="0">
                <a:solidFill>
                  <a:schemeClr val="accent1"/>
                </a:solidFill>
              </a:rPr>
              <a:t>SSN NeuralForge</a:t>
            </a:r>
            <a:endParaRPr lang="en-US" sz="2200" dirty="0"/>
          </a:p>
        </p:txBody>
      </p:sp>
      <p:sp>
        <p:nvSpPr>
          <p:cNvPr id="5" name="Text 3"/>
          <p:cNvSpPr txBox="1"/>
          <p:nvPr/>
        </p:nvSpPr>
        <p:spPr>
          <a:xfrm>
            <a:off x="548640" y="3931920"/>
            <a:ext cx="5120640" cy="274320"/>
          </a:xfrm>
          <a:prstGeom prst="rect">
            <a:avLst/>
          </a:prstGeom>
          <a:noFill/>
          <a:ln/>
        </p:spPr>
        <p:txBody>
          <a:bodyPr wrap="square" lIns="0" tIns="0" rIns="0" bIns="0" rtlCol="0" anchor="t"/>
          <a:lstStyle/>
          <a:p>
            <a:pPr algn="l" indent="0" marL="0">
              <a:buNone/>
            </a:pPr>
            <a:r>
              <a:rPr lang="en-US" sz="1400" dirty="0">
                <a:solidFill>
                  <a:schemeClr val="bg1"/>
                </a:solidFill>
              </a:rPr>
              <a:t>SSN College of Engineering, Chennai</a:t>
            </a:r>
            <a:endParaRPr lang="en-US" sz="1400" dirty="0"/>
          </a:p>
        </p:txBody>
      </p:sp>
      <p:sp>
        <p:nvSpPr>
          <p:cNvPr id="6" name="Shape 4"/>
          <p:cNvSpPr/>
          <p:nvPr/>
        </p:nvSpPr>
        <p:spPr>
          <a:xfrm>
            <a:off x="6217920" y="914400"/>
            <a:ext cx="2011680" cy="182880"/>
          </a:xfrm>
          <a:prstGeom prst="roundRect">
            <a:avLst>
              <a:gd name="adj" fmla="val 50000"/>
            </a:avLst>
          </a:prstGeom>
          <a:solidFill>
            <a:schemeClr val="accent5"/>
          </a:solidFill>
          <a:ln w="12700">
            <a:solidFill>
              <a:schemeClr val="accent5"/>
            </a:solidFill>
            <a:prstDash val="solid"/>
          </a:ln>
        </p:spPr>
      </p:sp>
      <p:sp>
        <p:nvSpPr>
          <p:cNvPr id="7" name="Shape 5"/>
          <p:cNvSpPr/>
          <p:nvPr/>
        </p:nvSpPr>
        <p:spPr>
          <a:xfrm>
            <a:off x="6217920" y="1261872"/>
            <a:ext cx="1463040" cy="182880"/>
          </a:xfrm>
          <a:prstGeom prst="roundRect">
            <a:avLst>
              <a:gd name="adj" fmla="val 50000"/>
            </a:avLst>
          </a:prstGeom>
          <a:solidFill>
            <a:schemeClr val="accent5"/>
          </a:solidFill>
          <a:ln w="12700">
            <a:solidFill>
              <a:schemeClr val="accent5"/>
            </a:solidFill>
            <a:prstDash val="solid"/>
          </a:ln>
        </p:spPr>
      </p:sp>
      <p:sp>
        <p:nvSpPr>
          <p:cNvPr id="8" name="Shape 6"/>
          <p:cNvSpPr/>
          <p:nvPr/>
        </p:nvSpPr>
        <p:spPr>
          <a:xfrm>
            <a:off x="6217920" y="1609344"/>
            <a:ext cx="2377440" cy="182880"/>
          </a:xfrm>
          <a:prstGeom prst="roundRect">
            <a:avLst>
              <a:gd name="adj" fmla="val 50000"/>
            </a:avLst>
          </a:prstGeom>
          <a:solidFill>
            <a:schemeClr val="accent5"/>
          </a:solidFill>
          <a:ln w="12700">
            <a:solidFill>
              <a:schemeClr val="accent5"/>
            </a:solidFill>
            <a:prstDash val="solid"/>
          </a:ln>
        </p:spPr>
      </p:sp>
      <p:sp>
        <p:nvSpPr>
          <p:cNvPr id="9" name="Shape 7"/>
          <p:cNvSpPr/>
          <p:nvPr/>
        </p:nvSpPr>
        <p:spPr>
          <a:xfrm>
            <a:off x="6217920" y="1956816"/>
            <a:ext cx="1737360" cy="182880"/>
          </a:xfrm>
          <a:prstGeom prst="roundRect">
            <a:avLst>
              <a:gd name="adj" fmla="val 50000"/>
            </a:avLst>
          </a:prstGeom>
          <a:solidFill>
            <a:schemeClr val="accent5"/>
          </a:solidFill>
          <a:ln w="12700">
            <a:solidFill>
              <a:schemeClr val="accent5"/>
            </a:solidFill>
            <a:prstDash val="solid"/>
          </a:ln>
        </p:spPr>
      </p:sp>
      <p:sp>
        <p:nvSpPr>
          <p:cNvPr id="10" name="Shape 8"/>
          <p:cNvSpPr/>
          <p:nvPr/>
        </p:nvSpPr>
        <p:spPr>
          <a:xfrm>
            <a:off x="6217920" y="2304288"/>
            <a:ext cx="2194560" cy="182880"/>
          </a:xfrm>
          <a:prstGeom prst="roundRect">
            <a:avLst>
              <a:gd name="adj" fmla="val 50000"/>
            </a:avLst>
          </a:prstGeom>
          <a:solidFill>
            <a:schemeClr val="accent5"/>
          </a:solidFill>
          <a:ln w="12700">
            <a:solidFill>
              <a:schemeClr val="accent5"/>
            </a:solidFill>
            <a:prstDash val="solid"/>
          </a:ln>
        </p:spPr>
      </p:sp>
      <p:sp>
        <p:nvSpPr>
          <p:cNvPr id="11" name="Shape 9"/>
          <p:cNvSpPr/>
          <p:nvPr/>
        </p:nvSpPr>
        <p:spPr>
          <a:xfrm>
            <a:off x="6217920" y="1609344"/>
            <a:ext cx="1005840" cy="182880"/>
          </a:xfrm>
          <a:prstGeom prst="roundRect">
            <a:avLst>
              <a:gd name="adj" fmla="val 50000"/>
            </a:avLst>
          </a:prstGeom>
          <a:solidFill>
            <a:schemeClr val="accent1"/>
          </a:solidFill>
          <a:ln w="12700">
            <a:solidFill>
              <a:schemeClr val="accent1"/>
            </a:solidFill>
            <a:prstDash val="solid"/>
          </a:ln>
        </p:spPr>
      </p:sp>
      <p:sp>
        <p:nvSpPr>
          <p:cNvPr id="12" name="chip"/>
          <p:cNvSpPr/>
          <p:nvPr/>
        </p:nvSpPr>
        <p:spPr>
          <a:xfrm>
            <a:off x="621792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Risk</a:t>
            </a:r>
            <a:endParaRPr lang="en-US" sz="1200" dirty="0"/>
          </a:p>
        </p:txBody>
      </p:sp>
      <p:sp>
        <p:nvSpPr>
          <p:cNvPr id="13" name="chip"/>
          <p:cNvSpPr/>
          <p:nvPr/>
        </p:nvSpPr>
        <p:spPr>
          <a:xfrm>
            <a:off x="708660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Evidence</a:t>
            </a:r>
            <a:endParaRPr lang="en-US" sz="1200" dirty="0"/>
          </a:p>
        </p:txBody>
      </p:sp>
      <p:sp>
        <p:nvSpPr>
          <p:cNvPr id="14" name="chip"/>
          <p:cNvSpPr/>
          <p:nvPr/>
        </p:nvSpPr>
        <p:spPr>
          <a:xfrm>
            <a:off x="795528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Factors</a:t>
            </a:r>
            <a:endParaRPr lang="en-US" sz="1200" dirty="0"/>
          </a:p>
        </p:txBody>
      </p:sp>
      <p:sp>
        <p:nvSpPr>
          <p:cNvPr id="15" name="Text 13"/>
          <p:cNvSpPr txBox="1"/>
          <p:nvPr/>
        </p:nvSpPr>
        <p:spPr>
          <a:xfrm>
            <a:off x="6217920" y="3429000"/>
            <a:ext cx="2560320" cy="457200"/>
          </a:xfrm>
          <a:prstGeom prst="rect">
            <a:avLst/>
          </a:prstGeom>
          <a:noFill/>
          <a:ln/>
        </p:spPr>
        <p:txBody>
          <a:bodyPr wrap="square" lIns="0" tIns="0" rIns="0" bIns="0" rtlCol="0" anchor="t"/>
          <a:lstStyle/>
          <a:p>
            <a:pPr algn="l" indent="0" marL="0">
              <a:buNone/>
            </a:pPr>
            <a:r>
              <a:rPr lang="en-US" sz="1200" dirty="0">
                <a:solidFill>
                  <a:schemeClr val="accent4"/>
                </a:solidFill>
              </a:rPr>
              <a:t>Risk level  +  verbatim evidence  +  contributing factors</a:t>
            </a:r>
            <a:endParaRPr lang="en-US" sz="1200" dirty="0"/>
          </a:p>
        </p:txBody>
      </p:sp>
      <p:sp>
        <p:nvSpPr>
          <p:cNvPr id="17" name="Text 1"/>
          <p:cNvSpPr/>
          <p:nvPr>
            <p:ph idx="101" type="title" hasCustomPrompt="1"/>
          </p:nvPr>
        </p:nvSpPr>
        <p:spPr>
          <a:xfrm>
            <a:off x="548640" y="365760"/>
            <a:ext cx="8046720" cy="914400"/>
          </a:xfrm>
          <a:prstGeom prst="rect">
            <a:avLst/>
          </a:prstGeom>
          <a:noFill/>
          <a:ln/>
        </p:spPr>
        <p:txBody>
          <a:bodyPr wrap="square" lIns="0" tIns="0" rIns="0" bIns="0" rtlCol="0" anchor="ct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Explainable Suicide Risk Detection?</a:t>
            </a:r>
            <a:endParaRPr lang="en-US" sz="3000" dirty="0"/>
          </a:p>
        </p:txBody>
      </p:sp>
      <p:sp>
        <p:nvSpPr>
          <p:cNvPr id="3" name="Text 1"/>
          <p:cNvSpPr txBox="1"/>
          <p:nvPr/>
        </p:nvSpPr>
        <p:spPr>
          <a:xfrm>
            <a:off x="457200" y="1188720"/>
            <a:ext cx="4480560" cy="31089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Online mental-health posts contain complex, indirect expressions of risk</a:t>
            </a:r>
            <a:endParaRPr lang="en-US" sz="1600" dirty="0"/>
          </a:p>
          <a:p>
            <a:pPr marL="342900" indent="-342900">
              <a:spcAft>
                <a:spcPts val="600"/>
              </a:spcAft>
              <a:buSzPct val="100000"/>
              <a:buChar char="•"/>
            </a:pPr>
            <a:r>
              <a:rPr lang="en-US" sz="1600" dirty="0">
                <a:solidFill>
                  <a:schemeClr val="tx1"/>
                </a:solidFill>
              </a:rPr>
              <a:t>Posts with similar vocabulary can differ substantially in risk level</a:t>
            </a:r>
            <a:endParaRPr lang="en-US" sz="1600" dirty="0"/>
          </a:p>
          <a:p>
            <a:pPr marL="342900" indent="-342900">
              <a:spcAft>
                <a:spcPts val="600"/>
              </a:spcAft>
              <a:buSzPct val="100000"/>
              <a:buChar char="•"/>
            </a:pPr>
            <a:r>
              <a:rPr lang="en-US" sz="1600" dirty="0">
                <a:solidFill>
                  <a:schemeClr val="tx1"/>
                </a:solidFill>
              </a:rPr>
              <a:t>A label alone is insufficient for human review</a:t>
            </a:r>
            <a:endParaRPr lang="en-US" sz="1600" dirty="0"/>
          </a:p>
          <a:p>
            <a:pPr marL="342900" indent="-342900">
              <a:spcAft>
                <a:spcPts val="600"/>
              </a:spcAft>
              <a:buSzPct val="100000"/>
              <a:buChar char="•"/>
            </a:pPr>
            <a:r>
              <a:rPr lang="en-US" sz="1600" dirty="0">
                <a:solidFill>
                  <a:schemeClr val="tx1"/>
                </a:solidFill>
              </a:rPr>
              <a:t>Evidence-based predictions improve interpretability and auditability</a:t>
            </a:r>
            <a:endParaRPr lang="en-US" sz="1600" dirty="0"/>
          </a:p>
        </p:txBody>
      </p:sp>
      <p:sp>
        <p:nvSpPr>
          <p:cNvPr id="4" name="flow"/>
          <p:cNvSpPr/>
          <p:nvPr/>
        </p:nvSpPr>
        <p:spPr>
          <a:xfrm>
            <a:off x="5669280" y="10972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Reddit post</a:t>
            </a:r>
            <a:endParaRPr lang="en-US" sz="1600" dirty="0"/>
          </a:p>
        </p:txBody>
      </p:sp>
      <p:sp>
        <p:nvSpPr>
          <p:cNvPr id="5" name="Shape 3"/>
          <p:cNvSpPr/>
          <p:nvPr/>
        </p:nvSpPr>
        <p:spPr>
          <a:xfrm>
            <a:off x="7132320" y="1645920"/>
            <a:ext cx="0" cy="365760"/>
          </a:xfrm>
          <a:prstGeom prst="line">
            <a:avLst/>
          </a:prstGeom>
          <a:noFill/>
          <a:ln w="19050">
            <a:solidFill>
              <a:schemeClr val="accent3"/>
            </a:solidFill>
            <a:prstDash val="solid"/>
            <a:tailEnd type="triangle"/>
          </a:ln>
        </p:spPr>
      </p:sp>
      <p:sp>
        <p:nvSpPr>
          <p:cNvPr id="6" name="flow"/>
          <p:cNvSpPr/>
          <p:nvPr/>
        </p:nvSpPr>
        <p:spPr>
          <a:xfrm>
            <a:off x="5669280" y="20116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Risk assessment</a:t>
            </a:r>
            <a:endParaRPr lang="en-US" sz="1600" dirty="0"/>
          </a:p>
        </p:txBody>
      </p:sp>
      <p:sp>
        <p:nvSpPr>
          <p:cNvPr id="7" name="Shape 5"/>
          <p:cNvSpPr/>
          <p:nvPr/>
        </p:nvSpPr>
        <p:spPr>
          <a:xfrm>
            <a:off x="7132320" y="2560320"/>
            <a:ext cx="0" cy="365760"/>
          </a:xfrm>
          <a:prstGeom prst="line">
            <a:avLst/>
          </a:prstGeom>
          <a:noFill/>
          <a:ln w="19050">
            <a:solidFill>
              <a:schemeClr val="accent3"/>
            </a:solidFill>
            <a:prstDash val="solid"/>
            <a:tailEnd type="triangle"/>
          </a:ln>
        </p:spPr>
      </p:sp>
      <p:sp>
        <p:nvSpPr>
          <p:cNvPr id="8" name="flow"/>
          <p:cNvSpPr/>
          <p:nvPr/>
        </p:nvSpPr>
        <p:spPr>
          <a:xfrm>
            <a:off x="5669280" y="29260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Evidence</a:t>
            </a:r>
            <a:endParaRPr lang="en-US" sz="1600" dirty="0"/>
          </a:p>
        </p:txBody>
      </p:sp>
      <p:sp>
        <p:nvSpPr>
          <p:cNvPr id="9" name="Shape 7"/>
          <p:cNvSpPr/>
          <p:nvPr/>
        </p:nvSpPr>
        <p:spPr>
          <a:xfrm>
            <a:off x="7132320" y="3474720"/>
            <a:ext cx="0" cy="365760"/>
          </a:xfrm>
          <a:prstGeom prst="line">
            <a:avLst/>
          </a:prstGeom>
          <a:noFill/>
          <a:ln w="19050">
            <a:solidFill>
              <a:schemeClr val="accent3"/>
            </a:solidFill>
            <a:prstDash val="solid"/>
            <a:tailEnd type="triangle"/>
          </a:ln>
        </p:spPr>
      </p:sp>
      <p:sp>
        <p:nvSpPr>
          <p:cNvPr id="10" name="flow"/>
          <p:cNvSpPr/>
          <p:nvPr/>
        </p:nvSpPr>
        <p:spPr>
          <a:xfrm>
            <a:off x="5669280" y="3840480"/>
            <a:ext cx="2926080" cy="548640"/>
          </a:xfrm>
          <a:prstGeom prst="roundRect">
            <a:avLst>
              <a:gd name="adj" fmla="val 13333"/>
            </a:avLst>
          </a:prstGeom>
          <a:solidFill>
            <a:schemeClr val="accent1"/>
          </a:solidFill>
          <a:ln w="12700">
            <a:solidFill>
              <a:schemeClr val="accent1"/>
            </a:solidFill>
          </a:ln>
        </p:spPr>
        <p:txBody>
          <a:bodyPr wrap="square" lIns="762" tIns="762" rIns="762" bIns="762" rtlCol="0" anchor="ctr"/>
          <a:lstStyle/>
          <a:p>
            <a:pPr algn="ctr" indent="0" marL="0">
              <a:buNone/>
            </a:pPr>
            <a:r>
              <a:rPr lang="en-US" sz="1600" b="1" dirty="0">
                <a:solidFill>
                  <a:schemeClr val="bg1"/>
                </a:solidFill>
              </a:rPr>
              <a:t>Human interpretation</a:t>
            </a:r>
            <a:endParaRPr lang="en-US" sz="1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Challenge Formulation</a:t>
            </a:r>
            <a:endParaRPr lang="en-US" sz="3000" dirty="0"/>
          </a:p>
        </p:txBody>
      </p:sp>
      <p:sp>
        <p:nvSpPr>
          <p:cNvPr id="3" name="card"/>
          <p:cNvSpPr/>
          <p:nvPr/>
        </p:nvSpPr>
        <p:spPr>
          <a:xfrm>
            <a:off x="457200" y="1051560"/>
            <a:ext cx="4023360" cy="1828800"/>
          </a:xfrm>
          <a:prstGeom prst="roundRect">
            <a:avLst>
              <a:gd name="adj" fmla="val 4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1828800"/>
          </a:xfrm>
          <a:prstGeom prst="roundRect">
            <a:avLst>
              <a:gd name="adj" fmla="val 4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Subtask 1</a:t>
            </a:r>
            <a:endParaRPr lang="en-US" sz="1200" dirty="0"/>
          </a:p>
        </p:txBody>
      </p:sp>
      <p:sp>
        <p:nvSpPr>
          <p:cNvPr id="6" name="Text 4"/>
          <p:cNvSpPr txBox="1"/>
          <p:nvPr/>
        </p:nvSpPr>
        <p:spPr>
          <a:xfrm>
            <a:off x="640080" y="1417320"/>
            <a:ext cx="3657600" cy="548640"/>
          </a:xfrm>
          <a:prstGeom prst="rect">
            <a:avLst/>
          </a:prstGeom>
          <a:noFill/>
          <a:ln/>
        </p:spPr>
        <p:txBody>
          <a:bodyPr wrap="square" lIns="0" tIns="0" rIns="0" bIns="0" rtlCol="0" anchor="t"/>
          <a:lstStyle/>
          <a:p>
            <a:pPr algn="l" indent="0" marL="0">
              <a:buNone/>
            </a:pPr>
            <a:r>
              <a:rPr lang="en-US" sz="1600" b="1" dirty="0">
                <a:solidFill>
                  <a:schemeClr val="tx1"/>
                </a:solidFill>
              </a:rPr>
              <a:t>Risk Classification + Evidence Extraction</a:t>
            </a:r>
            <a:endParaRPr lang="en-US" sz="1600" dirty="0"/>
          </a:p>
        </p:txBody>
      </p:sp>
      <p:sp>
        <p:nvSpPr>
          <p:cNvPr id="7" name="Text 5"/>
          <p:cNvSpPr txBox="1"/>
          <p:nvPr/>
        </p:nvSpPr>
        <p:spPr>
          <a:xfrm>
            <a:off x="640080" y="2011680"/>
            <a:ext cx="3657600" cy="1097280"/>
          </a:xfrm>
          <a:prstGeom prst="rect">
            <a:avLst/>
          </a:prstGeom>
          <a:noFill/>
          <a:ln/>
        </p:spPr>
        <p:txBody>
          <a:bodyPr wrap="square" lIns="0" tIns="0" rIns="0" bIns="0" rtlCol="0" anchor="t"/>
          <a:lstStyle/>
          <a:p>
            <a:pPr algn="l" indent="0" marL="0">
              <a:buNone/>
            </a:pPr>
            <a:r>
              <a:rPr lang="en-US" sz="1400" dirty="0">
                <a:solidFill>
                  <a:schemeClr val="tx1"/>
                </a:solidFill>
              </a:rPr>
              <a:t>4 classes: Indicator, Ideation, Behavior, Attempt. Extract verbatim phrases that support the label.</a:t>
            </a:r>
            <a:endParaRPr lang="en-US" sz="1400" dirty="0"/>
          </a:p>
        </p:txBody>
      </p:sp>
      <p:sp>
        <p:nvSpPr>
          <p:cNvPr id="8" name="Text 6"/>
          <p:cNvSpPr txBox="1"/>
          <p:nvPr/>
        </p:nvSpPr>
        <p:spPr>
          <a:xfrm>
            <a:off x="4846320" y="11430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Subtask 2</a:t>
            </a:r>
            <a:endParaRPr lang="en-US" sz="1200" dirty="0"/>
          </a:p>
        </p:txBody>
      </p:sp>
      <p:sp>
        <p:nvSpPr>
          <p:cNvPr id="9" name="Text 7"/>
          <p:cNvSpPr txBox="1"/>
          <p:nvPr/>
        </p:nvSpPr>
        <p:spPr>
          <a:xfrm>
            <a:off x="4846320" y="1417320"/>
            <a:ext cx="3657600" cy="548640"/>
          </a:xfrm>
          <a:prstGeom prst="rect">
            <a:avLst/>
          </a:prstGeom>
          <a:noFill/>
          <a:ln/>
        </p:spPr>
        <p:txBody>
          <a:bodyPr wrap="square" lIns="0" tIns="0" rIns="0" bIns="0" rtlCol="0" anchor="t"/>
          <a:lstStyle/>
          <a:p>
            <a:pPr algn="l" indent="0" marL="0">
              <a:buNone/>
            </a:pPr>
            <a:r>
              <a:rPr lang="en-US" sz="1600" b="1" dirty="0">
                <a:solidFill>
                  <a:schemeClr val="tx1"/>
                </a:solidFill>
              </a:rPr>
              <a:t>Factor Identification</a:t>
            </a:r>
            <a:endParaRPr lang="en-US" sz="1600" dirty="0"/>
          </a:p>
        </p:txBody>
      </p:sp>
      <p:sp>
        <p:nvSpPr>
          <p:cNvPr id="10" name="Text 8"/>
          <p:cNvSpPr txBox="1"/>
          <p:nvPr/>
        </p:nvSpPr>
        <p:spPr>
          <a:xfrm>
            <a:off x="4846320" y="2011680"/>
            <a:ext cx="3657600" cy="1097280"/>
          </a:xfrm>
          <a:prstGeom prst="rect">
            <a:avLst/>
          </a:prstGeom>
          <a:noFill/>
          <a:ln/>
        </p:spPr>
        <p:txBody>
          <a:bodyPr wrap="square" lIns="0" tIns="0" rIns="0" bIns="0" rtlCol="0" anchor="t"/>
          <a:lstStyle/>
          <a:p>
            <a:pPr algn="l" indent="0" marL="0">
              <a:buNone/>
            </a:pPr>
            <a:r>
              <a:rPr lang="en-US" sz="1400" dirty="0">
                <a:solidFill>
                  <a:schemeClr val="tx1"/>
                </a:solidFill>
              </a:rPr>
              <a:t>Multi-label classification over a 24-category taxonomy of suicide-related factors.</a:t>
            </a:r>
            <a:endParaRPr lang="en-US" sz="1400" dirty="0"/>
          </a:p>
        </p:txBody>
      </p:sp>
      <p:sp>
        <p:nvSpPr>
          <p:cNvPr id="11" name="node"/>
          <p:cNvSpPr/>
          <p:nvPr/>
        </p:nvSpPr>
        <p:spPr>
          <a:xfrm>
            <a:off x="457200" y="3474720"/>
            <a:ext cx="1645920" cy="640080"/>
          </a:xfrm>
          <a:prstGeom prst="roundRect">
            <a:avLst>
              <a:gd name="adj" fmla="val 11429"/>
            </a:avLst>
          </a:prstGeom>
          <a:solidFill>
            <a:schemeClr val="tx1"/>
          </a:solidFill>
          <a:ln w="12700">
            <a:solidFill>
              <a:schemeClr val="tx1"/>
            </a:solidFill>
          </a:ln>
        </p:spPr>
        <p:txBody>
          <a:bodyPr wrap="square" lIns="762" tIns="762" rIns="762" bIns="762" rtlCol="0" anchor="ctr"/>
          <a:lstStyle/>
          <a:p>
            <a:pPr algn="ctr" indent="0" marL="0">
              <a:buNone/>
            </a:pPr>
            <a:r>
              <a:rPr lang="en-US" sz="1400" b="1" dirty="0">
                <a:solidFill>
                  <a:schemeClr val="bg1"/>
                </a:solidFill>
              </a:rPr>
              <a:t>Reddit post</a:t>
            </a:r>
            <a:endParaRPr lang="en-US" sz="1400" dirty="0"/>
          </a:p>
        </p:txBody>
      </p:sp>
      <p:sp>
        <p:nvSpPr>
          <p:cNvPr id="12" name="Shape 10"/>
          <p:cNvSpPr/>
          <p:nvPr/>
        </p:nvSpPr>
        <p:spPr>
          <a:xfrm>
            <a:off x="2103120" y="3794760"/>
            <a:ext cx="320040" cy="0"/>
          </a:xfrm>
          <a:prstGeom prst="line">
            <a:avLst/>
          </a:prstGeom>
          <a:noFill/>
          <a:ln w="19050">
            <a:solidFill>
              <a:schemeClr val="accent3"/>
            </a:solidFill>
            <a:prstDash val="solid"/>
            <a:tailEnd type="triangle"/>
          </a:ln>
        </p:spPr>
      </p:sp>
      <p:sp>
        <p:nvSpPr>
          <p:cNvPr id="13" name="Shape 11"/>
          <p:cNvSpPr/>
          <p:nvPr/>
        </p:nvSpPr>
        <p:spPr>
          <a:xfrm>
            <a:off x="2423160" y="3246120"/>
            <a:ext cx="0" cy="548640"/>
          </a:xfrm>
          <a:prstGeom prst="line">
            <a:avLst/>
          </a:prstGeom>
          <a:noFill/>
          <a:ln w="19050">
            <a:solidFill>
              <a:schemeClr val="accent3"/>
            </a:solidFill>
            <a:prstDash val="solid"/>
          </a:ln>
        </p:spPr>
      </p:sp>
      <p:sp>
        <p:nvSpPr>
          <p:cNvPr id="14" name="Shape 12"/>
          <p:cNvSpPr/>
          <p:nvPr/>
        </p:nvSpPr>
        <p:spPr>
          <a:xfrm>
            <a:off x="2423160" y="3246120"/>
            <a:ext cx="4892040" cy="0"/>
          </a:xfrm>
          <a:prstGeom prst="line">
            <a:avLst/>
          </a:prstGeom>
          <a:noFill/>
          <a:ln w="19050">
            <a:solidFill>
              <a:schemeClr val="accent3"/>
            </a:solidFill>
            <a:prstDash val="solid"/>
          </a:ln>
        </p:spPr>
      </p:sp>
      <p:sp>
        <p:nvSpPr>
          <p:cNvPr id="15" name="Shape 13"/>
          <p:cNvSpPr/>
          <p:nvPr/>
        </p:nvSpPr>
        <p:spPr>
          <a:xfrm>
            <a:off x="3657600" y="3246120"/>
            <a:ext cx="0" cy="228600"/>
          </a:xfrm>
          <a:prstGeom prst="line">
            <a:avLst/>
          </a:prstGeom>
          <a:noFill/>
          <a:ln w="19050">
            <a:solidFill>
              <a:schemeClr val="accent3"/>
            </a:solidFill>
            <a:prstDash val="solid"/>
            <a:tailEnd type="triangle"/>
          </a:ln>
        </p:spPr>
      </p:sp>
      <p:sp>
        <p:nvSpPr>
          <p:cNvPr id="16" name="node"/>
          <p:cNvSpPr/>
          <p:nvPr/>
        </p:nvSpPr>
        <p:spPr>
          <a:xfrm>
            <a:off x="2743200" y="3474720"/>
            <a:ext cx="1828800" cy="640080"/>
          </a:xfrm>
          <a:prstGeom prst="roundRect">
            <a:avLst>
              <a:gd name="adj" fmla="val 11429"/>
            </a:avLst>
          </a:prstGeom>
          <a:solidFill>
            <a:schemeClr val="accent2"/>
          </a:solidFill>
          <a:ln w="12700">
            <a:solidFill>
              <a:schemeClr val="accent2"/>
            </a:solidFill>
          </a:ln>
        </p:spPr>
        <p:txBody>
          <a:bodyPr wrap="square" lIns="762" tIns="762" rIns="762" bIns="762" rtlCol="0" anchor="ctr"/>
          <a:lstStyle/>
          <a:p>
            <a:pPr algn="ctr" indent="0" marL="0">
              <a:buNone/>
            </a:pPr>
            <a:r>
              <a:rPr lang="en-US" sz="1400" b="1" dirty="0">
                <a:solidFill>
                  <a:schemeClr val="bg1"/>
                </a:solidFill>
              </a:rPr>
              <a:t>Risk level</a:t>
            </a:r>
            <a:endParaRPr lang="en-US" sz="1400" dirty="0"/>
          </a:p>
        </p:txBody>
      </p:sp>
      <p:sp>
        <p:nvSpPr>
          <p:cNvPr id="17" name="Shape 15"/>
          <p:cNvSpPr/>
          <p:nvPr/>
        </p:nvSpPr>
        <p:spPr>
          <a:xfrm>
            <a:off x="5669280" y="3246120"/>
            <a:ext cx="0" cy="228600"/>
          </a:xfrm>
          <a:prstGeom prst="line">
            <a:avLst/>
          </a:prstGeom>
          <a:noFill/>
          <a:ln w="19050">
            <a:solidFill>
              <a:schemeClr val="accent3"/>
            </a:solidFill>
            <a:prstDash val="solid"/>
            <a:tailEnd type="triangle"/>
          </a:ln>
        </p:spPr>
      </p:sp>
      <p:sp>
        <p:nvSpPr>
          <p:cNvPr id="18" name="node"/>
          <p:cNvSpPr/>
          <p:nvPr/>
        </p:nvSpPr>
        <p:spPr>
          <a:xfrm>
            <a:off x="4754880" y="3474720"/>
            <a:ext cx="1828800" cy="640080"/>
          </a:xfrm>
          <a:prstGeom prst="roundRect">
            <a:avLst>
              <a:gd name="adj" fmla="val 11429"/>
            </a:avLst>
          </a:prstGeom>
          <a:solidFill>
            <a:schemeClr val="accent1"/>
          </a:solidFill>
          <a:ln w="12700">
            <a:solidFill>
              <a:schemeClr val="accent1"/>
            </a:solidFill>
          </a:ln>
        </p:spPr>
        <p:txBody>
          <a:bodyPr wrap="square" lIns="762" tIns="762" rIns="762" bIns="762" rtlCol="0" anchor="ctr"/>
          <a:lstStyle/>
          <a:p>
            <a:pPr algn="ctr" indent="0" marL="0">
              <a:buNone/>
            </a:pPr>
            <a:r>
              <a:rPr lang="en-US" sz="1400" b="1" dirty="0">
                <a:solidFill>
                  <a:schemeClr val="bg1"/>
                </a:solidFill>
              </a:rPr>
              <a:t>Evidence phrase</a:t>
            </a:r>
            <a:endParaRPr lang="en-US" sz="1400" dirty="0"/>
          </a:p>
        </p:txBody>
      </p:sp>
      <p:sp>
        <p:nvSpPr>
          <p:cNvPr id="19" name="Shape 17"/>
          <p:cNvSpPr/>
          <p:nvPr/>
        </p:nvSpPr>
        <p:spPr>
          <a:xfrm>
            <a:off x="7680960" y="3246120"/>
            <a:ext cx="0" cy="228600"/>
          </a:xfrm>
          <a:prstGeom prst="line">
            <a:avLst/>
          </a:prstGeom>
          <a:noFill/>
          <a:ln w="19050">
            <a:solidFill>
              <a:schemeClr val="accent3"/>
            </a:solidFill>
            <a:prstDash val="solid"/>
            <a:tailEnd type="triangle"/>
          </a:ln>
        </p:spPr>
      </p:sp>
      <p:sp>
        <p:nvSpPr>
          <p:cNvPr id="20" name="node"/>
          <p:cNvSpPr/>
          <p:nvPr/>
        </p:nvSpPr>
        <p:spPr>
          <a:xfrm>
            <a:off x="6766560" y="3474720"/>
            <a:ext cx="1828800" cy="640080"/>
          </a:xfrm>
          <a:prstGeom prst="roundRect">
            <a:avLst>
              <a:gd name="adj" fmla="val 11429"/>
            </a:avLst>
          </a:prstGeom>
          <a:solidFill>
            <a:schemeClr val="accent5"/>
          </a:solidFill>
          <a:ln w="12700">
            <a:solidFill>
              <a:schemeClr val="accent5"/>
            </a:solidFill>
          </a:ln>
        </p:spPr>
        <p:txBody>
          <a:bodyPr wrap="square" lIns="762" tIns="762" rIns="762" bIns="762" rtlCol="0" anchor="ctr"/>
          <a:lstStyle/>
          <a:p>
            <a:pPr algn="ctr" indent="0" marL="0">
              <a:buNone/>
            </a:pPr>
            <a:r>
              <a:rPr lang="en-US" sz="1400" b="1" dirty="0">
                <a:solidFill>
                  <a:schemeClr val="bg1"/>
                </a:solidFill>
              </a:rPr>
              <a:t>Suicide-related factors</a:t>
            </a:r>
            <a:endParaRPr lang="en-US" sz="1400" dirty="0"/>
          </a:p>
        </p:txBody>
      </p:sp>
      <p:sp>
        <p:nvSpPr>
          <p:cNvPr id="21" name="Text 19"/>
          <p:cNvSpPr txBox="1"/>
          <p:nvPr/>
        </p:nvSpPr>
        <p:spPr>
          <a:xfrm>
            <a:off x="457200" y="4343400"/>
            <a:ext cx="8229600" cy="274320"/>
          </a:xfrm>
          <a:prstGeom prst="rect">
            <a:avLst/>
          </a:prstGeom>
          <a:noFill/>
          <a:ln/>
        </p:spPr>
        <p:txBody>
          <a:bodyPr wrap="square" lIns="0" tIns="0" rIns="0" bIns="0" rtlCol="0" anchor="t"/>
          <a:lstStyle/>
          <a:p>
            <a:pPr algn="l" indent="0" marL="0">
              <a:buNone/>
            </a:pPr>
            <a:r>
              <a:rPr lang="en-US" sz="1300" dirty="0">
                <a:solidFill>
                  <a:schemeClr val="accent3"/>
                </a:solidFill>
              </a:rPr>
              <a:t>Data: 1,635 labeled training posts  |  378 unlabeled leaderboard posts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Dataset and Processing Pipeline</a:t>
            </a:r>
            <a:endParaRPr lang="en-US" sz="3000" dirty="0"/>
          </a:p>
        </p:txBody>
      </p:sp>
      <p:sp>
        <p:nvSpPr>
          <p:cNvPr id="3" name="step"/>
          <p:cNvSpPr/>
          <p:nvPr/>
        </p:nvSpPr>
        <p:spPr>
          <a:xfrm>
            <a:off x="457200" y="1097280"/>
            <a:ext cx="1371600" cy="640080"/>
          </a:xfrm>
          <a:prstGeom prst="roundRect">
            <a:avLst>
              <a:gd name="adj" fmla="val 11429"/>
            </a:avLst>
          </a:prstGeom>
          <a:solidFill>
            <a:schemeClr val="tx1"/>
          </a:solidFill>
          <a:ln w="12700">
            <a:solidFill>
              <a:schemeClr val="tx1"/>
            </a:solidFill>
          </a:ln>
        </p:spPr>
        <p:txBody>
          <a:bodyPr wrap="square" lIns="762" tIns="762" rIns="762" bIns="762" rtlCol="0" anchor="ctr"/>
          <a:lstStyle/>
          <a:p>
            <a:pPr algn="ctr" indent="0" marL="0">
              <a:buNone/>
            </a:pPr>
            <a:r>
              <a:rPr lang="en-US" sz="1200" b="1" dirty="0">
                <a:solidFill>
                  <a:schemeClr val="bg1"/>
                </a:solidFill>
              </a:rPr>
              <a:t>Reddit posts</a:t>
            </a:r>
            <a:endParaRPr lang="en-US" sz="1200" dirty="0"/>
          </a:p>
        </p:txBody>
      </p:sp>
      <p:sp>
        <p:nvSpPr>
          <p:cNvPr id="4" name="Shape 2"/>
          <p:cNvSpPr/>
          <p:nvPr/>
        </p:nvSpPr>
        <p:spPr>
          <a:xfrm>
            <a:off x="1828800" y="1417320"/>
            <a:ext cx="342900" cy="0"/>
          </a:xfrm>
          <a:prstGeom prst="line">
            <a:avLst/>
          </a:prstGeom>
          <a:noFill/>
          <a:ln w="19050">
            <a:solidFill>
              <a:schemeClr val="accent3"/>
            </a:solidFill>
            <a:prstDash val="solid"/>
            <a:tailEnd type="triangle"/>
          </a:ln>
        </p:spPr>
      </p:sp>
      <p:sp>
        <p:nvSpPr>
          <p:cNvPr id="5" name="step"/>
          <p:cNvSpPr/>
          <p:nvPr/>
        </p:nvSpPr>
        <p:spPr>
          <a:xfrm>
            <a:off x="21717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Data cleaning</a:t>
            </a:r>
            <a:endParaRPr lang="en-US" sz="1200" dirty="0"/>
          </a:p>
        </p:txBody>
      </p:sp>
      <p:sp>
        <p:nvSpPr>
          <p:cNvPr id="6" name="Shape 4"/>
          <p:cNvSpPr/>
          <p:nvPr/>
        </p:nvSpPr>
        <p:spPr>
          <a:xfrm>
            <a:off x="3543300" y="1417320"/>
            <a:ext cx="342900" cy="0"/>
          </a:xfrm>
          <a:prstGeom prst="line">
            <a:avLst/>
          </a:prstGeom>
          <a:noFill/>
          <a:ln w="19050">
            <a:solidFill>
              <a:schemeClr val="accent3"/>
            </a:solidFill>
            <a:prstDash val="solid"/>
            <a:tailEnd type="triangle"/>
          </a:ln>
        </p:spPr>
      </p:sp>
      <p:sp>
        <p:nvSpPr>
          <p:cNvPr id="7" name="step"/>
          <p:cNvSpPr/>
          <p:nvPr/>
        </p:nvSpPr>
        <p:spPr>
          <a:xfrm>
            <a:off x="38862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Exploratory analysis</a:t>
            </a:r>
            <a:endParaRPr lang="en-US" sz="1200" dirty="0"/>
          </a:p>
        </p:txBody>
      </p:sp>
      <p:sp>
        <p:nvSpPr>
          <p:cNvPr id="8" name="Shape 6"/>
          <p:cNvSpPr/>
          <p:nvPr/>
        </p:nvSpPr>
        <p:spPr>
          <a:xfrm>
            <a:off x="5257800" y="1417320"/>
            <a:ext cx="342900" cy="0"/>
          </a:xfrm>
          <a:prstGeom prst="line">
            <a:avLst/>
          </a:prstGeom>
          <a:noFill/>
          <a:ln w="19050">
            <a:solidFill>
              <a:schemeClr val="accent3"/>
            </a:solidFill>
            <a:prstDash val="solid"/>
            <a:tailEnd type="triangle"/>
          </a:ln>
        </p:spPr>
      </p:sp>
      <p:sp>
        <p:nvSpPr>
          <p:cNvPr id="9" name="step"/>
          <p:cNvSpPr/>
          <p:nvPr/>
        </p:nvSpPr>
        <p:spPr>
          <a:xfrm>
            <a:off x="56007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Leakage check</a:t>
            </a:r>
            <a:endParaRPr lang="en-US" sz="1200" dirty="0"/>
          </a:p>
        </p:txBody>
      </p:sp>
      <p:sp>
        <p:nvSpPr>
          <p:cNvPr id="10" name="Shape 8"/>
          <p:cNvSpPr/>
          <p:nvPr/>
        </p:nvSpPr>
        <p:spPr>
          <a:xfrm>
            <a:off x="6972300" y="1417320"/>
            <a:ext cx="342900" cy="0"/>
          </a:xfrm>
          <a:prstGeom prst="line">
            <a:avLst/>
          </a:prstGeom>
          <a:noFill/>
          <a:ln w="19050">
            <a:solidFill>
              <a:schemeClr val="accent3"/>
            </a:solidFill>
            <a:prstDash val="solid"/>
            <a:tailEnd type="triangle"/>
          </a:ln>
        </p:spPr>
      </p:sp>
      <p:sp>
        <p:nvSpPr>
          <p:cNvPr id="11" name="step"/>
          <p:cNvSpPr/>
          <p:nvPr/>
        </p:nvSpPr>
        <p:spPr>
          <a:xfrm>
            <a:off x="73152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Text preprocessing</a:t>
            </a:r>
            <a:endParaRPr lang="en-US" sz="1200" dirty="0"/>
          </a:p>
        </p:txBody>
      </p:sp>
      <p:sp>
        <p:nvSpPr>
          <p:cNvPr id="12" name="Shape 10"/>
          <p:cNvSpPr/>
          <p:nvPr/>
        </p:nvSpPr>
        <p:spPr>
          <a:xfrm>
            <a:off x="7543800" y="1737360"/>
            <a:ext cx="0" cy="274320"/>
          </a:xfrm>
          <a:prstGeom prst="line">
            <a:avLst/>
          </a:prstGeom>
          <a:noFill/>
          <a:ln w="19050">
            <a:solidFill>
              <a:schemeClr val="accent3"/>
            </a:solidFill>
            <a:prstDash val="solid"/>
            <a:tailEnd type="triangle"/>
          </a:ln>
        </p:spPr>
      </p:sp>
      <p:sp>
        <p:nvSpPr>
          <p:cNvPr id="13" name="step"/>
          <p:cNvSpPr/>
          <p:nvPr/>
        </p:nvSpPr>
        <p:spPr>
          <a:xfrm>
            <a:off x="73152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Train / validation split</a:t>
            </a:r>
            <a:endParaRPr lang="en-US" sz="1200" dirty="0"/>
          </a:p>
        </p:txBody>
      </p:sp>
      <p:sp>
        <p:nvSpPr>
          <p:cNvPr id="14" name="Shape 12"/>
          <p:cNvSpPr/>
          <p:nvPr/>
        </p:nvSpPr>
        <p:spPr>
          <a:xfrm flipH="1">
            <a:off x="6972300" y="2331720"/>
            <a:ext cx="342900" cy="0"/>
          </a:xfrm>
          <a:prstGeom prst="line">
            <a:avLst/>
          </a:prstGeom>
          <a:noFill/>
          <a:ln w="19050">
            <a:solidFill>
              <a:schemeClr val="accent3"/>
            </a:solidFill>
            <a:prstDash val="solid"/>
            <a:tailEnd type="triangle"/>
          </a:ln>
        </p:spPr>
      </p:sp>
      <p:sp>
        <p:nvSpPr>
          <p:cNvPr id="15" name="step"/>
          <p:cNvSpPr/>
          <p:nvPr/>
        </p:nvSpPr>
        <p:spPr>
          <a:xfrm>
            <a:off x="56007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Feature extraction</a:t>
            </a:r>
            <a:endParaRPr lang="en-US" sz="1200" dirty="0"/>
          </a:p>
        </p:txBody>
      </p:sp>
      <p:sp>
        <p:nvSpPr>
          <p:cNvPr id="16" name="Shape 14"/>
          <p:cNvSpPr/>
          <p:nvPr/>
        </p:nvSpPr>
        <p:spPr>
          <a:xfrm flipH="1">
            <a:off x="5257800" y="2331720"/>
            <a:ext cx="342900" cy="0"/>
          </a:xfrm>
          <a:prstGeom prst="line">
            <a:avLst/>
          </a:prstGeom>
          <a:noFill/>
          <a:ln w="19050">
            <a:solidFill>
              <a:schemeClr val="accent3"/>
            </a:solidFill>
            <a:prstDash val="solid"/>
            <a:tailEnd type="triangle"/>
          </a:ln>
        </p:spPr>
      </p:sp>
      <p:sp>
        <p:nvSpPr>
          <p:cNvPr id="17" name="step"/>
          <p:cNvSpPr/>
          <p:nvPr/>
        </p:nvSpPr>
        <p:spPr>
          <a:xfrm>
            <a:off x="38862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Model training</a:t>
            </a:r>
            <a:endParaRPr lang="en-US" sz="1200" dirty="0"/>
          </a:p>
        </p:txBody>
      </p:sp>
      <p:sp>
        <p:nvSpPr>
          <p:cNvPr id="18" name="Shape 16"/>
          <p:cNvSpPr/>
          <p:nvPr/>
        </p:nvSpPr>
        <p:spPr>
          <a:xfrm flipH="1">
            <a:off x="3543300" y="2331720"/>
            <a:ext cx="342900" cy="0"/>
          </a:xfrm>
          <a:prstGeom prst="line">
            <a:avLst/>
          </a:prstGeom>
          <a:noFill/>
          <a:ln w="19050">
            <a:solidFill>
              <a:schemeClr val="accent3"/>
            </a:solidFill>
            <a:prstDash val="solid"/>
            <a:tailEnd type="triangle"/>
          </a:ln>
        </p:spPr>
      </p:sp>
      <p:sp>
        <p:nvSpPr>
          <p:cNvPr id="19" name="step"/>
          <p:cNvSpPr/>
          <p:nvPr/>
        </p:nvSpPr>
        <p:spPr>
          <a:xfrm>
            <a:off x="21717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Validation</a:t>
            </a:r>
            <a:endParaRPr lang="en-US" sz="1200" dirty="0"/>
          </a:p>
        </p:txBody>
      </p:sp>
      <p:sp>
        <p:nvSpPr>
          <p:cNvPr id="20" name="Shape 18"/>
          <p:cNvSpPr/>
          <p:nvPr/>
        </p:nvSpPr>
        <p:spPr>
          <a:xfrm flipH="1">
            <a:off x="1828800" y="2331720"/>
            <a:ext cx="342900" cy="0"/>
          </a:xfrm>
          <a:prstGeom prst="line">
            <a:avLst/>
          </a:prstGeom>
          <a:noFill/>
          <a:ln w="19050">
            <a:solidFill>
              <a:schemeClr val="accent3"/>
            </a:solidFill>
            <a:prstDash val="solid"/>
            <a:tailEnd type="triangle"/>
          </a:ln>
        </p:spPr>
      </p:sp>
      <p:sp>
        <p:nvSpPr>
          <p:cNvPr id="21" name="step"/>
          <p:cNvSpPr/>
          <p:nvPr/>
        </p:nvSpPr>
        <p:spPr>
          <a:xfrm>
            <a:off x="457200" y="2011680"/>
            <a:ext cx="1371600" cy="640080"/>
          </a:xfrm>
          <a:prstGeom prst="roundRect">
            <a:avLst>
              <a:gd name="adj" fmla="val 11429"/>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Final prediction</a:t>
            </a:r>
            <a:endParaRPr lang="en-US" sz="1200" dirty="0"/>
          </a:p>
        </p:txBody>
      </p:sp>
      <p:sp>
        <p:nvSpPr>
          <p:cNvPr id="22" name="stat"/>
          <p:cNvSpPr/>
          <p:nvPr/>
        </p:nvSpPr>
        <p:spPr>
          <a:xfrm>
            <a:off x="45720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3" name="Text 21"/>
          <p:cNvSpPr txBox="1"/>
          <p:nvPr/>
        </p:nvSpPr>
        <p:spPr>
          <a:xfrm>
            <a:off x="54864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1,635</a:t>
            </a:r>
            <a:endParaRPr lang="en-US" sz="3600" dirty="0"/>
          </a:p>
        </p:txBody>
      </p:sp>
      <p:sp>
        <p:nvSpPr>
          <p:cNvPr id="24" name="Text 22"/>
          <p:cNvSpPr txBox="1"/>
          <p:nvPr/>
        </p:nvSpPr>
        <p:spPr>
          <a:xfrm>
            <a:off x="59436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labeled posts</a:t>
            </a:r>
            <a:endParaRPr lang="en-US" sz="1200" dirty="0"/>
          </a:p>
        </p:txBody>
      </p:sp>
      <p:sp>
        <p:nvSpPr>
          <p:cNvPr id="25" name="stat"/>
          <p:cNvSpPr/>
          <p:nvPr/>
        </p:nvSpPr>
        <p:spPr>
          <a:xfrm>
            <a:off x="256032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6" name="Text 24"/>
          <p:cNvSpPr txBox="1"/>
          <p:nvPr/>
        </p:nvSpPr>
        <p:spPr>
          <a:xfrm>
            <a:off x="265176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378</a:t>
            </a:r>
            <a:endParaRPr lang="en-US" sz="3600" dirty="0"/>
          </a:p>
        </p:txBody>
      </p:sp>
      <p:sp>
        <p:nvSpPr>
          <p:cNvPr id="27" name="Text 25"/>
          <p:cNvSpPr txBox="1"/>
          <p:nvPr/>
        </p:nvSpPr>
        <p:spPr>
          <a:xfrm>
            <a:off x="269748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leaderboard posts</a:t>
            </a:r>
            <a:endParaRPr lang="en-US" sz="1200" dirty="0"/>
          </a:p>
        </p:txBody>
      </p:sp>
      <p:sp>
        <p:nvSpPr>
          <p:cNvPr id="28" name="stat"/>
          <p:cNvSpPr/>
          <p:nvPr/>
        </p:nvSpPr>
        <p:spPr>
          <a:xfrm>
            <a:off x="466344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9" name="Text 27"/>
          <p:cNvSpPr txBox="1"/>
          <p:nvPr/>
        </p:nvSpPr>
        <p:spPr>
          <a:xfrm>
            <a:off x="475488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153</a:t>
            </a:r>
            <a:endParaRPr lang="en-US" sz="3600" dirty="0"/>
          </a:p>
        </p:txBody>
      </p:sp>
      <p:sp>
        <p:nvSpPr>
          <p:cNvPr id="30" name="Text 28"/>
          <p:cNvSpPr txBox="1"/>
          <p:nvPr/>
        </p:nvSpPr>
        <p:spPr>
          <a:xfrm>
            <a:off x="480060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users; user-grouped split, no overlap</a:t>
            </a:r>
            <a:endParaRPr lang="en-US" sz="1200" dirty="0"/>
          </a:p>
        </p:txBody>
      </p:sp>
      <p:sp>
        <p:nvSpPr>
          <p:cNvPr id="31" name="stat"/>
          <p:cNvSpPr/>
          <p:nvPr/>
        </p:nvSpPr>
        <p:spPr>
          <a:xfrm>
            <a:off x="676656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32" name="Text 30"/>
          <p:cNvSpPr txBox="1"/>
          <p:nvPr/>
        </p:nvSpPr>
        <p:spPr>
          <a:xfrm>
            <a:off x="685800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24</a:t>
            </a:r>
            <a:endParaRPr lang="en-US" sz="3600" dirty="0"/>
          </a:p>
        </p:txBody>
      </p:sp>
      <p:sp>
        <p:nvSpPr>
          <p:cNvPr id="33" name="Text 31"/>
          <p:cNvSpPr txBox="1"/>
          <p:nvPr/>
        </p:nvSpPr>
        <p:spPr>
          <a:xfrm>
            <a:off x="690372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factor categories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Proposed Explainable Detection Framework</a:t>
            </a:r>
            <a:endParaRPr lang="en-US" sz="3000" dirty="0"/>
          </a:p>
        </p:txBody>
      </p:sp>
      <p:sp>
        <p:nvSpPr>
          <p:cNvPr id="3" name="node"/>
          <p:cNvSpPr/>
          <p:nvPr/>
        </p:nvSpPr>
        <p:spPr>
          <a:xfrm>
            <a:off x="3291840" y="960120"/>
            <a:ext cx="2560320" cy="347472"/>
          </a:xfrm>
          <a:prstGeom prst="roundRect">
            <a:avLst>
              <a:gd name="adj" fmla="val 21053"/>
            </a:avLst>
          </a:prstGeom>
          <a:solidFill>
            <a:schemeClr val="tx1"/>
          </a:solidFill>
          <a:ln w="12700">
            <a:solidFill>
              <a:schemeClr val="tx1"/>
            </a:solidFill>
          </a:ln>
        </p:spPr>
        <p:txBody>
          <a:bodyPr wrap="square" lIns="762" tIns="762" rIns="762" bIns="762" rtlCol="0" anchor="ctr"/>
          <a:lstStyle/>
          <a:p>
            <a:pPr algn="ctr" indent="0" marL="0">
              <a:buNone/>
            </a:pPr>
            <a:r>
              <a:rPr lang="en-US" sz="1200" b="1" dirty="0">
                <a:solidFill>
                  <a:schemeClr val="bg1"/>
                </a:solidFill>
              </a:rPr>
              <a:t>INPUT: Reddit post</a:t>
            </a:r>
            <a:endParaRPr lang="en-US" sz="1200" dirty="0"/>
          </a:p>
        </p:txBody>
      </p:sp>
      <p:sp>
        <p:nvSpPr>
          <p:cNvPr id="4" name="Shape 2"/>
          <p:cNvSpPr/>
          <p:nvPr/>
        </p:nvSpPr>
        <p:spPr>
          <a:xfrm>
            <a:off x="4572000" y="1307592"/>
            <a:ext cx="0" cy="155448"/>
          </a:xfrm>
          <a:prstGeom prst="line">
            <a:avLst/>
          </a:prstGeom>
          <a:noFill/>
          <a:ln w="19050">
            <a:solidFill>
              <a:schemeClr val="accent3"/>
            </a:solidFill>
            <a:prstDash val="solid"/>
            <a:tailEnd type="triangle"/>
          </a:ln>
        </p:spPr>
      </p:sp>
      <p:sp>
        <p:nvSpPr>
          <p:cNvPr id="5" name="node"/>
          <p:cNvSpPr/>
          <p:nvPr/>
        </p:nvSpPr>
        <p:spPr>
          <a:xfrm>
            <a:off x="3291840" y="1463040"/>
            <a:ext cx="2560320" cy="347472"/>
          </a:xfrm>
          <a:prstGeom prst="roundRect">
            <a:avLst>
              <a:gd name="adj" fmla="val 21053"/>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Text preprocessing</a:t>
            </a:r>
            <a:endParaRPr lang="en-US" sz="1200" dirty="0"/>
          </a:p>
        </p:txBody>
      </p:sp>
      <p:sp>
        <p:nvSpPr>
          <p:cNvPr id="6" name="Shape 4"/>
          <p:cNvSpPr/>
          <p:nvPr/>
        </p:nvSpPr>
        <p:spPr>
          <a:xfrm>
            <a:off x="4572000" y="1810512"/>
            <a:ext cx="0" cy="128016"/>
          </a:xfrm>
          <a:prstGeom prst="line">
            <a:avLst/>
          </a:prstGeom>
          <a:noFill/>
          <a:ln w="19050">
            <a:solidFill>
              <a:schemeClr val="accent3"/>
            </a:solidFill>
            <a:prstDash val="solid"/>
            <a:tailEnd type="triangle"/>
          </a:ln>
        </p:spPr>
      </p:sp>
      <p:sp>
        <p:nvSpPr>
          <p:cNvPr id="7" name="Shape 5"/>
          <p:cNvSpPr/>
          <p:nvPr/>
        </p:nvSpPr>
        <p:spPr>
          <a:xfrm>
            <a:off x="1737360" y="1938528"/>
            <a:ext cx="5669280" cy="0"/>
          </a:xfrm>
          <a:prstGeom prst="line">
            <a:avLst/>
          </a:prstGeom>
          <a:noFill/>
          <a:ln w="19050">
            <a:solidFill>
              <a:schemeClr val="accent3"/>
            </a:solidFill>
            <a:prstDash val="solid"/>
          </a:ln>
        </p:spPr>
      </p:sp>
      <p:sp>
        <p:nvSpPr>
          <p:cNvPr id="8" name="Shape 6"/>
          <p:cNvSpPr/>
          <p:nvPr/>
        </p:nvSpPr>
        <p:spPr>
          <a:xfrm>
            <a:off x="1737360" y="1938528"/>
            <a:ext cx="0" cy="164592"/>
          </a:xfrm>
          <a:prstGeom prst="line">
            <a:avLst/>
          </a:prstGeom>
          <a:noFill/>
          <a:ln w="19050">
            <a:solidFill>
              <a:schemeClr val="accent3"/>
            </a:solidFill>
            <a:prstDash val="solid"/>
            <a:tailEnd type="triangle"/>
          </a:ln>
        </p:spPr>
      </p:sp>
      <p:sp>
        <p:nvSpPr>
          <p:cNvPr id="9" name="feat"/>
          <p:cNvSpPr/>
          <p:nvPr/>
        </p:nvSpPr>
        <p:spPr>
          <a:xfrm>
            <a:off x="45720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TF-IDF: word + char 3–5-grams</a:t>
            </a:r>
            <a:endParaRPr lang="en-US" sz="1200" dirty="0"/>
          </a:p>
        </p:txBody>
      </p:sp>
      <p:sp>
        <p:nvSpPr>
          <p:cNvPr id="10" name="Shape 8"/>
          <p:cNvSpPr/>
          <p:nvPr/>
        </p:nvSpPr>
        <p:spPr>
          <a:xfrm>
            <a:off x="1737360" y="2606040"/>
            <a:ext cx="0" cy="182880"/>
          </a:xfrm>
          <a:prstGeom prst="line">
            <a:avLst/>
          </a:prstGeom>
          <a:noFill/>
          <a:ln w="19050">
            <a:solidFill>
              <a:schemeClr val="accent3"/>
            </a:solidFill>
            <a:prstDash val="solid"/>
            <a:tailEnd type="triangle"/>
          </a:ln>
        </p:spPr>
      </p:sp>
      <p:sp>
        <p:nvSpPr>
          <p:cNvPr id="11" name="model"/>
          <p:cNvSpPr/>
          <p:nvPr/>
        </p:nvSpPr>
        <p:spPr>
          <a:xfrm>
            <a:off x="45720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Logistic Regression</a:t>
            </a:r>
            <a:endParaRPr lang="en-US" sz="1200" dirty="0"/>
          </a:p>
        </p:txBody>
      </p:sp>
      <p:sp>
        <p:nvSpPr>
          <p:cNvPr id="12" name="Shape 10"/>
          <p:cNvSpPr/>
          <p:nvPr/>
        </p:nvSpPr>
        <p:spPr>
          <a:xfrm>
            <a:off x="1737360" y="3291840"/>
            <a:ext cx="0" cy="182880"/>
          </a:xfrm>
          <a:prstGeom prst="line">
            <a:avLst/>
          </a:prstGeom>
          <a:noFill/>
          <a:ln w="19050">
            <a:solidFill>
              <a:schemeClr val="accent3"/>
            </a:solidFill>
            <a:prstDash val="solid"/>
            <a:tailEnd type="triangle"/>
          </a:ln>
        </p:spPr>
      </p:sp>
      <p:sp>
        <p:nvSpPr>
          <p:cNvPr id="13" name="out"/>
          <p:cNvSpPr/>
          <p:nvPr/>
        </p:nvSpPr>
        <p:spPr>
          <a:xfrm>
            <a:off x="457200" y="3474720"/>
            <a:ext cx="2560320" cy="457200"/>
          </a:xfrm>
          <a:prstGeom prst="roundRect">
            <a:avLst>
              <a:gd name="adj" fmla="val 16000"/>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bg1"/>
                </a:solidFill>
              </a:rPr>
              <a:t>Risk level</a:t>
            </a:r>
            <a:endParaRPr lang="en-US" sz="1200" dirty="0"/>
          </a:p>
        </p:txBody>
      </p:sp>
      <p:sp>
        <p:nvSpPr>
          <p:cNvPr id="14" name="Shape 12"/>
          <p:cNvSpPr/>
          <p:nvPr/>
        </p:nvSpPr>
        <p:spPr>
          <a:xfrm>
            <a:off x="1737360" y="3931920"/>
            <a:ext cx="0" cy="137160"/>
          </a:xfrm>
          <a:prstGeom prst="line">
            <a:avLst/>
          </a:prstGeom>
          <a:noFill/>
          <a:ln w="19050">
            <a:solidFill>
              <a:schemeClr val="accent3"/>
            </a:solidFill>
            <a:prstDash val="solid"/>
            <a:tailEnd type="triangle"/>
          </a:ln>
        </p:spPr>
      </p:sp>
      <p:sp>
        <p:nvSpPr>
          <p:cNvPr id="15" name="Shape 13"/>
          <p:cNvSpPr/>
          <p:nvPr/>
        </p:nvSpPr>
        <p:spPr>
          <a:xfrm>
            <a:off x="4572000" y="1938528"/>
            <a:ext cx="0" cy="164592"/>
          </a:xfrm>
          <a:prstGeom prst="line">
            <a:avLst/>
          </a:prstGeom>
          <a:noFill/>
          <a:ln w="19050">
            <a:solidFill>
              <a:schemeClr val="accent3"/>
            </a:solidFill>
            <a:prstDash val="solid"/>
            <a:tailEnd type="triangle"/>
          </a:ln>
        </p:spPr>
      </p:sp>
      <p:sp>
        <p:nvSpPr>
          <p:cNvPr id="16" name="feat"/>
          <p:cNvSpPr/>
          <p:nvPr/>
        </p:nvSpPr>
        <p:spPr>
          <a:xfrm>
            <a:off x="329184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Candidate spans: sentences, sub-clauses</a:t>
            </a:r>
            <a:endParaRPr lang="en-US" sz="1200" dirty="0"/>
          </a:p>
        </p:txBody>
      </p:sp>
      <p:sp>
        <p:nvSpPr>
          <p:cNvPr id="17" name="Shape 15"/>
          <p:cNvSpPr/>
          <p:nvPr/>
        </p:nvSpPr>
        <p:spPr>
          <a:xfrm>
            <a:off x="4572000" y="2606040"/>
            <a:ext cx="0" cy="182880"/>
          </a:xfrm>
          <a:prstGeom prst="line">
            <a:avLst/>
          </a:prstGeom>
          <a:noFill/>
          <a:ln w="19050">
            <a:solidFill>
              <a:schemeClr val="accent3"/>
            </a:solidFill>
            <a:prstDash val="solid"/>
            <a:tailEnd type="triangle"/>
          </a:ln>
        </p:spPr>
      </p:sp>
      <p:sp>
        <p:nvSpPr>
          <p:cNvPr id="18" name="model"/>
          <p:cNvSpPr/>
          <p:nvPr/>
        </p:nvSpPr>
        <p:spPr>
          <a:xfrm>
            <a:off x="329184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Span scoring + tuned threshold (0.7)</a:t>
            </a:r>
            <a:endParaRPr lang="en-US" sz="1200" dirty="0"/>
          </a:p>
        </p:txBody>
      </p:sp>
      <p:sp>
        <p:nvSpPr>
          <p:cNvPr id="19" name="Shape 17"/>
          <p:cNvSpPr/>
          <p:nvPr/>
        </p:nvSpPr>
        <p:spPr>
          <a:xfrm>
            <a:off x="4572000" y="3291840"/>
            <a:ext cx="0" cy="182880"/>
          </a:xfrm>
          <a:prstGeom prst="line">
            <a:avLst/>
          </a:prstGeom>
          <a:noFill/>
          <a:ln w="19050">
            <a:solidFill>
              <a:schemeClr val="accent3"/>
            </a:solidFill>
            <a:prstDash val="solid"/>
            <a:tailEnd type="triangle"/>
          </a:ln>
        </p:spPr>
      </p:sp>
      <p:sp>
        <p:nvSpPr>
          <p:cNvPr id="20" name="out"/>
          <p:cNvSpPr/>
          <p:nvPr/>
        </p:nvSpPr>
        <p:spPr>
          <a:xfrm>
            <a:off x="3291840" y="3474720"/>
            <a:ext cx="2560320" cy="457200"/>
          </a:xfrm>
          <a:prstGeom prst="roundRect">
            <a:avLst>
              <a:gd name="adj" fmla="val 16000"/>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Evidence phrase(s), verbatim</a:t>
            </a:r>
            <a:endParaRPr lang="en-US" sz="1200" dirty="0"/>
          </a:p>
        </p:txBody>
      </p:sp>
      <p:sp>
        <p:nvSpPr>
          <p:cNvPr id="21" name="Shape 19"/>
          <p:cNvSpPr/>
          <p:nvPr/>
        </p:nvSpPr>
        <p:spPr>
          <a:xfrm>
            <a:off x="4572000" y="3931920"/>
            <a:ext cx="0" cy="137160"/>
          </a:xfrm>
          <a:prstGeom prst="line">
            <a:avLst/>
          </a:prstGeom>
          <a:noFill/>
          <a:ln w="19050">
            <a:solidFill>
              <a:schemeClr val="accent3"/>
            </a:solidFill>
            <a:prstDash val="solid"/>
            <a:tailEnd type="triangle"/>
          </a:ln>
        </p:spPr>
      </p:sp>
      <p:sp>
        <p:nvSpPr>
          <p:cNvPr id="22" name="Shape 20"/>
          <p:cNvSpPr/>
          <p:nvPr/>
        </p:nvSpPr>
        <p:spPr>
          <a:xfrm>
            <a:off x="7406640" y="1938528"/>
            <a:ext cx="0" cy="164592"/>
          </a:xfrm>
          <a:prstGeom prst="line">
            <a:avLst/>
          </a:prstGeom>
          <a:noFill/>
          <a:ln w="19050">
            <a:solidFill>
              <a:schemeClr val="accent3"/>
            </a:solidFill>
            <a:prstDash val="solid"/>
            <a:tailEnd type="triangle"/>
          </a:ln>
        </p:spPr>
      </p:sp>
      <p:sp>
        <p:nvSpPr>
          <p:cNvPr id="23" name="feat"/>
          <p:cNvSpPr/>
          <p:nvPr/>
        </p:nvSpPr>
        <p:spPr>
          <a:xfrm>
            <a:off x="612648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TF-IDF: word 1–2-grams</a:t>
            </a:r>
            <a:endParaRPr lang="en-US" sz="1200" dirty="0"/>
          </a:p>
        </p:txBody>
      </p:sp>
      <p:sp>
        <p:nvSpPr>
          <p:cNvPr id="24" name="Shape 22"/>
          <p:cNvSpPr/>
          <p:nvPr/>
        </p:nvSpPr>
        <p:spPr>
          <a:xfrm>
            <a:off x="7406640" y="2606040"/>
            <a:ext cx="0" cy="182880"/>
          </a:xfrm>
          <a:prstGeom prst="line">
            <a:avLst/>
          </a:prstGeom>
          <a:noFill/>
          <a:ln w="19050">
            <a:solidFill>
              <a:schemeClr val="accent3"/>
            </a:solidFill>
            <a:prstDash val="solid"/>
            <a:tailEnd type="triangle"/>
          </a:ln>
        </p:spPr>
      </p:sp>
      <p:sp>
        <p:nvSpPr>
          <p:cNvPr id="25" name="model"/>
          <p:cNvSpPr/>
          <p:nvPr/>
        </p:nvSpPr>
        <p:spPr>
          <a:xfrm>
            <a:off x="612648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One-vs-Rest Logistic Regression, per-factor thresholds</a:t>
            </a:r>
            <a:endParaRPr lang="en-US" sz="1200" dirty="0"/>
          </a:p>
        </p:txBody>
      </p:sp>
      <p:sp>
        <p:nvSpPr>
          <p:cNvPr id="26" name="Shape 24"/>
          <p:cNvSpPr/>
          <p:nvPr/>
        </p:nvSpPr>
        <p:spPr>
          <a:xfrm>
            <a:off x="7406640" y="3291840"/>
            <a:ext cx="0" cy="182880"/>
          </a:xfrm>
          <a:prstGeom prst="line">
            <a:avLst/>
          </a:prstGeom>
          <a:noFill/>
          <a:ln w="19050">
            <a:solidFill>
              <a:schemeClr val="accent3"/>
            </a:solidFill>
            <a:prstDash val="solid"/>
            <a:tailEnd type="triangle"/>
          </a:ln>
        </p:spPr>
      </p:sp>
      <p:sp>
        <p:nvSpPr>
          <p:cNvPr id="27" name="out"/>
          <p:cNvSpPr/>
          <p:nvPr/>
        </p:nvSpPr>
        <p:spPr>
          <a:xfrm>
            <a:off x="6126480" y="3474720"/>
            <a:ext cx="2560320" cy="457200"/>
          </a:xfrm>
          <a:prstGeom prst="roundRect">
            <a:avLst>
              <a:gd name="adj" fmla="val 16000"/>
            </a:avLst>
          </a:prstGeom>
          <a:solidFill>
            <a:schemeClr val="accent5"/>
          </a:solidFill>
          <a:ln w="12700">
            <a:solidFill>
              <a:schemeClr val="accent5"/>
            </a:solidFill>
          </a:ln>
        </p:spPr>
        <p:txBody>
          <a:bodyPr wrap="square" lIns="762" tIns="762" rIns="762" bIns="762" rtlCol="0" anchor="ctr"/>
          <a:lstStyle/>
          <a:p>
            <a:pPr algn="ctr" indent="0" marL="0">
              <a:buNone/>
            </a:pPr>
            <a:r>
              <a:rPr lang="en-US" sz="1200" b="1" dirty="0">
                <a:solidFill>
                  <a:schemeClr val="bg1"/>
                </a:solidFill>
              </a:rPr>
              <a:t>Risk factors (24 categories)</a:t>
            </a:r>
            <a:endParaRPr lang="en-US" sz="1200" dirty="0"/>
          </a:p>
        </p:txBody>
      </p:sp>
      <p:sp>
        <p:nvSpPr>
          <p:cNvPr id="28" name="Shape 26"/>
          <p:cNvSpPr/>
          <p:nvPr/>
        </p:nvSpPr>
        <p:spPr>
          <a:xfrm>
            <a:off x="7406640" y="3931920"/>
            <a:ext cx="0" cy="137160"/>
          </a:xfrm>
          <a:prstGeom prst="line">
            <a:avLst/>
          </a:prstGeom>
          <a:noFill/>
          <a:ln w="19050">
            <a:solidFill>
              <a:schemeClr val="accent3"/>
            </a:solidFill>
            <a:prstDash val="solid"/>
            <a:tailEnd type="triangle"/>
          </a:ln>
        </p:spPr>
      </p:sp>
      <p:sp>
        <p:nvSpPr>
          <p:cNvPr id="29" name="Shape 27"/>
          <p:cNvSpPr/>
          <p:nvPr/>
        </p:nvSpPr>
        <p:spPr>
          <a:xfrm>
            <a:off x="1737360" y="4069080"/>
            <a:ext cx="5669280" cy="0"/>
          </a:xfrm>
          <a:prstGeom prst="line">
            <a:avLst/>
          </a:prstGeom>
          <a:noFill/>
          <a:ln w="19050">
            <a:solidFill>
              <a:schemeClr val="accent3"/>
            </a:solidFill>
            <a:prstDash val="solid"/>
          </a:ln>
        </p:spPr>
      </p:sp>
      <p:sp>
        <p:nvSpPr>
          <p:cNvPr id="30" name="Shape 28"/>
          <p:cNvSpPr/>
          <p:nvPr/>
        </p:nvSpPr>
        <p:spPr>
          <a:xfrm>
            <a:off x="4572000" y="4069080"/>
            <a:ext cx="0" cy="118872"/>
          </a:xfrm>
          <a:prstGeom prst="line">
            <a:avLst/>
          </a:prstGeom>
          <a:noFill/>
          <a:ln w="19050">
            <a:solidFill>
              <a:schemeClr val="accent3"/>
            </a:solidFill>
            <a:prstDash val="solid"/>
            <a:tailEnd type="triangle"/>
          </a:ln>
        </p:spPr>
      </p:sp>
      <p:sp>
        <p:nvSpPr>
          <p:cNvPr id="31" name="node"/>
          <p:cNvSpPr/>
          <p:nvPr/>
        </p:nvSpPr>
        <p:spPr>
          <a:xfrm>
            <a:off x="2834640" y="4187952"/>
            <a:ext cx="3474720" cy="411480"/>
          </a:xfrm>
          <a:prstGeom prst="roundRect">
            <a:avLst>
              <a:gd name="adj" fmla="val 17778"/>
            </a:avLst>
          </a:prstGeom>
          <a:solidFill>
            <a:schemeClr val="tx1"/>
          </a:solidFill>
          <a:ln w="12700">
            <a:solidFill>
              <a:schemeClr val="tx1"/>
            </a:solidFill>
          </a:ln>
        </p:spPr>
        <p:txBody>
          <a:bodyPr wrap="square" lIns="762" tIns="762" rIns="762" bIns="762" rtlCol="0" anchor="ctr"/>
          <a:lstStyle/>
          <a:p>
            <a:pPr algn="ctr" indent="0" marL="0">
              <a:buNone/>
            </a:pPr>
            <a:r>
              <a:rPr lang="en-US" sz="1400" b="1" dirty="0">
                <a:solidFill>
                  <a:schemeClr val="bg1"/>
                </a:solidFill>
              </a:rPr>
              <a:t>EXPLAINABLE OUTPUT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Modeling Strategy</a:t>
            </a:r>
            <a:endParaRPr lang="en-US" sz="3000" dirty="0"/>
          </a:p>
        </p:txBody>
      </p:sp>
      <p:sp>
        <p:nvSpPr>
          <p:cNvPr id="3" name="card"/>
          <p:cNvSpPr/>
          <p:nvPr/>
        </p:nvSpPr>
        <p:spPr>
          <a:xfrm>
            <a:off x="45720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Shape 2"/>
          <p:cNvSpPr/>
          <p:nvPr/>
        </p:nvSpPr>
        <p:spPr>
          <a:xfrm>
            <a:off x="594360" y="1234440"/>
            <a:ext cx="320040" cy="320040"/>
          </a:xfrm>
          <a:prstGeom prst="roundRect">
            <a:avLst>
              <a:gd name="adj" fmla="val 48571"/>
            </a:avLst>
          </a:prstGeom>
          <a:solidFill>
            <a:schemeClr val="accent2"/>
          </a:solidFill>
          <a:ln w="12700">
            <a:solidFill>
              <a:schemeClr val="accent2"/>
            </a:solidFill>
            <a:prstDash val="solid"/>
          </a:ln>
        </p:spPr>
      </p:sp>
      <p:sp>
        <p:nvSpPr>
          <p:cNvPr id="5" name="Text 3"/>
          <p:cNvSpPr txBox="1"/>
          <p:nvPr/>
        </p:nvSpPr>
        <p:spPr>
          <a:xfrm>
            <a:off x="100584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Risk Classification</a:t>
            </a:r>
            <a:endParaRPr lang="en-US" sz="1500" dirty="0"/>
          </a:p>
        </p:txBody>
      </p:sp>
      <p:sp>
        <p:nvSpPr>
          <p:cNvPr id="6" name="Text 4"/>
          <p:cNvSpPr txBox="1"/>
          <p:nvPr/>
        </p:nvSpPr>
        <p:spPr>
          <a:xfrm>
            <a:off x="59436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TF-IDF (word + char n-grams) + Logistic Regression</a:t>
            </a:r>
            <a:endParaRPr lang="en-US" sz="1300" dirty="0"/>
          </a:p>
        </p:txBody>
      </p:sp>
      <p:sp>
        <p:nvSpPr>
          <p:cNvPr id="7" name="Text 5"/>
          <p:cNvSpPr txBox="1"/>
          <p:nvPr/>
        </p:nvSpPr>
        <p:spPr>
          <a:xfrm>
            <a:off x="59436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Word 1–2-grams</a:t>
            </a:r>
            <a:endParaRPr lang="en-US" sz="1300" dirty="0"/>
          </a:p>
          <a:p>
            <a:pPr marL="342900" indent="-342900">
              <a:spcAft>
                <a:spcPts val="600"/>
              </a:spcAft>
              <a:buSzPct val="100000"/>
              <a:buChar char="•"/>
            </a:pPr>
            <a:r>
              <a:rPr lang="en-US" sz="1300" dirty="0">
                <a:solidFill>
                  <a:schemeClr val="tx1"/>
                </a:solidFill>
              </a:rPr>
              <a:t>Character 3–5-grams</a:t>
            </a:r>
            <a:endParaRPr lang="en-US" sz="1300" dirty="0"/>
          </a:p>
          <a:p>
            <a:pPr marL="342900" indent="-342900">
              <a:spcAft>
                <a:spcPts val="600"/>
              </a:spcAft>
              <a:buSzPct val="100000"/>
              <a:buChar char="•"/>
            </a:pPr>
            <a:r>
              <a:rPr lang="en-US" sz="1300" dirty="0">
                <a:solidFill>
                  <a:schemeClr val="tx1"/>
                </a:solidFill>
              </a:rPr>
              <a:t>Balanced class weights</a:t>
            </a:r>
            <a:endParaRPr lang="en-US" sz="1300" dirty="0"/>
          </a:p>
        </p:txBody>
      </p:sp>
      <p:sp>
        <p:nvSpPr>
          <p:cNvPr id="8" name="card"/>
          <p:cNvSpPr/>
          <p:nvPr/>
        </p:nvSpPr>
        <p:spPr>
          <a:xfrm>
            <a:off x="329184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9" name="Shape 7"/>
          <p:cNvSpPr/>
          <p:nvPr/>
        </p:nvSpPr>
        <p:spPr>
          <a:xfrm>
            <a:off x="3429000" y="1234440"/>
            <a:ext cx="320040" cy="320040"/>
          </a:xfrm>
          <a:prstGeom prst="roundRect">
            <a:avLst>
              <a:gd name="adj" fmla="val 48571"/>
            </a:avLst>
          </a:prstGeom>
          <a:solidFill>
            <a:schemeClr val="accent1"/>
          </a:solidFill>
          <a:ln w="12700">
            <a:solidFill>
              <a:schemeClr val="accent1"/>
            </a:solidFill>
            <a:prstDash val="solid"/>
          </a:ln>
        </p:spPr>
      </p:sp>
      <p:sp>
        <p:nvSpPr>
          <p:cNvPr id="10" name="Text 8"/>
          <p:cNvSpPr txBox="1"/>
          <p:nvPr/>
        </p:nvSpPr>
        <p:spPr>
          <a:xfrm>
            <a:off x="384048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Evidence Extraction</a:t>
            </a:r>
            <a:endParaRPr lang="en-US" sz="1500" dirty="0"/>
          </a:p>
        </p:txBody>
      </p:sp>
      <p:sp>
        <p:nvSpPr>
          <p:cNvPr id="11" name="Text 9"/>
          <p:cNvSpPr txBox="1"/>
          <p:nvPr/>
        </p:nvSpPr>
        <p:spPr>
          <a:xfrm>
            <a:off x="342900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Phrase-level span scoring</a:t>
            </a:r>
            <a:endParaRPr lang="en-US" sz="1300" dirty="0"/>
          </a:p>
        </p:txBody>
      </p:sp>
      <p:sp>
        <p:nvSpPr>
          <p:cNvPr id="12" name="Text 10"/>
          <p:cNvSpPr txBox="1"/>
          <p:nvPr/>
        </p:nvSpPr>
        <p:spPr>
          <a:xfrm>
            <a:off x="342900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Split into sentences / sub-clauses</a:t>
            </a:r>
            <a:endParaRPr lang="en-US" sz="1300" dirty="0"/>
          </a:p>
          <a:p>
            <a:pPr marL="342900" indent="-342900">
              <a:spcAft>
                <a:spcPts val="600"/>
              </a:spcAft>
              <a:buSzPct val="100000"/>
              <a:buChar char="•"/>
            </a:pPr>
            <a:r>
              <a:rPr lang="en-US" sz="1300" dirty="0">
                <a:solidFill>
                  <a:schemeClr val="tx1"/>
                </a:solidFill>
              </a:rPr>
              <a:t>Score candidates (TF-IDF + LR)</a:t>
            </a:r>
            <a:endParaRPr lang="en-US" sz="1300" dirty="0"/>
          </a:p>
          <a:p>
            <a:pPr marL="342900" indent="-342900">
              <a:spcAft>
                <a:spcPts val="600"/>
              </a:spcAft>
              <a:buSzPct val="100000"/>
              <a:buChar char="•"/>
            </a:pPr>
            <a:r>
              <a:rPr lang="en-US" sz="1300" dirty="0">
                <a:solidFill>
                  <a:schemeClr val="tx1"/>
                </a:solidFill>
              </a:rPr>
              <a:t>Threshold 0.7; prefer concise spans</a:t>
            </a:r>
            <a:endParaRPr lang="en-US" sz="1300" dirty="0"/>
          </a:p>
        </p:txBody>
      </p:sp>
      <p:sp>
        <p:nvSpPr>
          <p:cNvPr id="13" name="card"/>
          <p:cNvSpPr/>
          <p:nvPr/>
        </p:nvSpPr>
        <p:spPr>
          <a:xfrm>
            <a:off x="612648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4" name="Shape 12"/>
          <p:cNvSpPr/>
          <p:nvPr/>
        </p:nvSpPr>
        <p:spPr>
          <a:xfrm>
            <a:off x="6263640" y="1234440"/>
            <a:ext cx="320040" cy="320040"/>
          </a:xfrm>
          <a:prstGeom prst="roundRect">
            <a:avLst>
              <a:gd name="adj" fmla="val 48571"/>
            </a:avLst>
          </a:prstGeom>
          <a:solidFill>
            <a:schemeClr val="accent5"/>
          </a:solidFill>
          <a:ln w="12700">
            <a:solidFill>
              <a:schemeClr val="accent5"/>
            </a:solidFill>
            <a:prstDash val="solid"/>
          </a:ln>
        </p:spPr>
      </p:sp>
      <p:sp>
        <p:nvSpPr>
          <p:cNvPr id="15" name="Text 13"/>
          <p:cNvSpPr txBox="1"/>
          <p:nvPr/>
        </p:nvSpPr>
        <p:spPr>
          <a:xfrm>
            <a:off x="667512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Factor Identification</a:t>
            </a:r>
            <a:endParaRPr lang="en-US" sz="1500" dirty="0"/>
          </a:p>
        </p:txBody>
      </p:sp>
      <p:sp>
        <p:nvSpPr>
          <p:cNvPr id="16" name="Text 14"/>
          <p:cNvSpPr txBox="1"/>
          <p:nvPr/>
        </p:nvSpPr>
        <p:spPr>
          <a:xfrm>
            <a:off x="626364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TF-IDF + One-vs-Rest Logistic Regression</a:t>
            </a:r>
            <a:endParaRPr lang="en-US" sz="1300" dirty="0"/>
          </a:p>
        </p:txBody>
      </p:sp>
      <p:sp>
        <p:nvSpPr>
          <p:cNvPr id="17" name="Text 15"/>
          <p:cNvSpPr txBox="1"/>
          <p:nvPr/>
        </p:nvSpPr>
        <p:spPr>
          <a:xfrm>
            <a:off x="626364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24 independent binary models</a:t>
            </a:r>
            <a:endParaRPr lang="en-US" sz="1300" dirty="0"/>
          </a:p>
          <a:p>
            <a:pPr marL="342900" indent="-342900">
              <a:spcAft>
                <a:spcPts val="600"/>
              </a:spcAft>
              <a:buSzPct val="100000"/>
              <a:buChar char="•"/>
            </a:pPr>
            <a:r>
              <a:rPr lang="en-US" sz="1300" dirty="0">
                <a:solidFill>
                  <a:schemeClr val="tx1"/>
                </a:solidFill>
              </a:rPr>
              <a:t>Individually tuned thresholds</a:t>
            </a:r>
            <a:endParaRPr lang="en-US" sz="1300" dirty="0"/>
          </a:p>
          <a:p>
            <a:pPr marL="342900" indent="-342900">
              <a:spcAft>
                <a:spcPts val="600"/>
              </a:spcAft>
              <a:buSzPct val="100000"/>
              <a:buChar char="•"/>
            </a:pPr>
            <a:r>
              <a:rPr lang="en-US" sz="1300" dirty="0">
                <a:solidFill>
                  <a:schemeClr val="tx1"/>
                </a:solidFill>
              </a:rPr>
              <a:t>Multi-label output</a:t>
            </a:r>
            <a:endParaRPr lang="en-US" sz="1300" dirty="0"/>
          </a:p>
        </p:txBody>
      </p:sp>
      <p:sp>
        <p:nvSpPr>
          <p:cNvPr id="18" name="banner"/>
          <p:cNvSpPr/>
          <p:nvPr/>
        </p:nvSpPr>
        <p:spPr>
          <a:xfrm>
            <a:off x="457200" y="4023360"/>
            <a:ext cx="8229600" cy="548640"/>
          </a:xfrm>
          <a:prstGeom prst="roundRect">
            <a:avLst>
              <a:gd name="adj" fmla="val 13333"/>
            </a:avLst>
          </a:prstGeom>
          <a:solidFill>
            <a:schemeClr val="accent1"/>
          </a:solidFill>
          <a:ln w="12700">
            <a:solidFill>
              <a:schemeClr val="accent1"/>
            </a:solidFill>
          </a:ln>
        </p:spPr>
        <p:txBody>
          <a:bodyPr wrap="square" lIns="762" tIns="762" rIns="762" bIns="762" rtlCol="0" anchor="ctr"/>
          <a:lstStyle/>
          <a:p>
            <a:pPr algn="ctr" indent="0" marL="0">
              <a:buNone/>
            </a:pPr>
            <a:r>
              <a:rPr lang="en-US" sz="1500" b="1" dirty="0">
                <a:solidFill>
                  <a:schemeClr val="bg1"/>
                </a:solidFill>
              </a:rPr>
              <a:t>Evidence is never generated or paraphrased: every span is an exact substring of the source post.</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Systematic Model Improvement</a:t>
            </a:r>
            <a:endParaRPr lang="en-US" sz="3000" dirty="0"/>
          </a:p>
        </p:txBody>
      </p:sp>
      <p:sp>
        <p:nvSpPr>
          <p:cNvPr id="3" name="step"/>
          <p:cNvSpPr/>
          <p:nvPr/>
        </p:nvSpPr>
        <p:spPr>
          <a:xfrm>
            <a:off x="457200" y="1097280"/>
            <a:ext cx="33832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300" b="1" dirty="0">
                <a:solidFill>
                  <a:schemeClr val="tx1"/>
                </a:solidFill>
              </a:rPr>
              <a:t>Baseline: word TF-IDF + LogReg</a:t>
            </a:r>
            <a:endParaRPr lang="en-US" sz="1300" dirty="0"/>
          </a:p>
        </p:txBody>
      </p:sp>
      <p:sp>
        <p:nvSpPr>
          <p:cNvPr id="4" name="Shape 2"/>
          <p:cNvSpPr/>
          <p:nvPr/>
        </p:nvSpPr>
        <p:spPr>
          <a:xfrm>
            <a:off x="2148840" y="1600200"/>
            <a:ext cx="0" cy="182880"/>
          </a:xfrm>
          <a:prstGeom prst="line">
            <a:avLst/>
          </a:prstGeom>
          <a:noFill/>
          <a:ln w="19050">
            <a:solidFill>
              <a:schemeClr val="accent3"/>
            </a:solidFill>
            <a:prstDash val="solid"/>
            <a:tailEnd type="triangle"/>
          </a:ln>
        </p:spPr>
      </p:sp>
      <p:sp>
        <p:nvSpPr>
          <p:cNvPr id="5" name="step"/>
          <p:cNvSpPr/>
          <p:nvPr/>
        </p:nvSpPr>
        <p:spPr>
          <a:xfrm>
            <a:off x="457200" y="1783080"/>
            <a:ext cx="33832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300" b="1" dirty="0">
                <a:solidFill>
                  <a:schemeClr val="tx1"/>
                </a:solidFill>
              </a:rPr>
              <a:t>Add character 3–5-gram features</a:t>
            </a:r>
            <a:endParaRPr lang="en-US" sz="1300" dirty="0"/>
          </a:p>
        </p:txBody>
      </p:sp>
      <p:sp>
        <p:nvSpPr>
          <p:cNvPr id="6" name="Shape 4"/>
          <p:cNvSpPr/>
          <p:nvPr/>
        </p:nvSpPr>
        <p:spPr>
          <a:xfrm>
            <a:off x="2148840" y="2286000"/>
            <a:ext cx="0" cy="182880"/>
          </a:xfrm>
          <a:prstGeom prst="line">
            <a:avLst/>
          </a:prstGeom>
          <a:noFill/>
          <a:ln w="19050">
            <a:solidFill>
              <a:schemeClr val="accent3"/>
            </a:solidFill>
            <a:prstDash val="solid"/>
            <a:tailEnd type="triangle"/>
          </a:ln>
        </p:spPr>
      </p:sp>
      <p:sp>
        <p:nvSpPr>
          <p:cNvPr id="7" name="step"/>
          <p:cNvSpPr/>
          <p:nvPr/>
        </p:nvSpPr>
        <p:spPr>
          <a:xfrm>
            <a:off x="457200" y="2468880"/>
            <a:ext cx="33832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300" b="1" dirty="0">
                <a:solidFill>
                  <a:schemeClr val="tx1"/>
                </a:solidFill>
              </a:rPr>
              <a:t>Hyperparameter + threshold tuning</a:t>
            </a:r>
            <a:endParaRPr lang="en-US" sz="1300" dirty="0"/>
          </a:p>
        </p:txBody>
      </p:sp>
      <p:sp>
        <p:nvSpPr>
          <p:cNvPr id="8" name="Shape 6"/>
          <p:cNvSpPr/>
          <p:nvPr/>
        </p:nvSpPr>
        <p:spPr>
          <a:xfrm>
            <a:off x="2148840" y="2971800"/>
            <a:ext cx="0" cy="182880"/>
          </a:xfrm>
          <a:prstGeom prst="line">
            <a:avLst/>
          </a:prstGeom>
          <a:noFill/>
          <a:ln w="19050">
            <a:solidFill>
              <a:schemeClr val="accent3"/>
            </a:solidFill>
            <a:prstDash val="solid"/>
            <a:tailEnd type="triangle"/>
          </a:ln>
        </p:spPr>
      </p:sp>
      <p:sp>
        <p:nvSpPr>
          <p:cNvPr id="9" name="step"/>
          <p:cNvSpPr/>
          <p:nvPr/>
        </p:nvSpPr>
        <p:spPr>
          <a:xfrm>
            <a:off x="457200" y="3154680"/>
            <a:ext cx="33832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300" b="1" dirty="0">
                <a:solidFill>
                  <a:schemeClr val="tx1"/>
                </a:solidFill>
              </a:rPr>
              <a:t>Multi-seed validation</a:t>
            </a:r>
            <a:endParaRPr lang="en-US" sz="1300" dirty="0"/>
          </a:p>
        </p:txBody>
      </p:sp>
      <p:sp>
        <p:nvSpPr>
          <p:cNvPr id="10" name="Shape 8"/>
          <p:cNvSpPr/>
          <p:nvPr/>
        </p:nvSpPr>
        <p:spPr>
          <a:xfrm>
            <a:off x="2148840" y="3657600"/>
            <a:ext cx="0" cy="182880"/>
          </a:xfrm>
          <a:prstGeom prst="line">
            <a:avLst/>
          </a:prstGeom>
          <a:noFill/>
          <a:ln w="19050">
            <a:solidFill>
              <a:schemeClr val="accent3"/>
            </a:solidFill>
            <a:prstDash val="solid"/>
            <a:tailEnd type="triangle"/>
          </a:ln>
        </p:spPr>
      </p:sp>
      <p:sp>
        <p:nvSpPr>
          <p:cNvPr id="11" name="step"/>
          <p:cNvSpPr/>
          <p:nvPr/>
        </p:nvSpPr>
        <p:spPr>
          <a:xfrm>
            <a:off x="457200" y="3840480"/>
            <a:ext cx="338328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rPr>
              <a:t>Improved robust pipeline</a:t>
            </a:r>
            <a:endParaRPr lang="en-US" sz="1300" dirty="0"/>
          </a:p>
        </p:txBody>
      </p:sp>
      <p:graphicFrame>
        <p:nvGraphicFramePr>
          <p:cNvPr id="12" name="Chart 0" descr=""/>
          <p:cNvGraphicFramePr/>
          <p:nvPr/>
        </p:nvGraphicFramePr>
        <p:xfrm>
          <a:off x="4114800" y="100584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114800" y="3840480"/>
            <a:ext cx="4572000" cy="365760"/>
          </a:xfrm>
          <a:prstGeom prst="rect">
            <a:avLst/>
          </a:prstGeom>
          <a:noFill/>
          <a:ln/>
        </p:spPr>
        <p:txBody>
          <a:bodyPr wrap="square" lIns="0" tIns="0" rIns="0" bIns="0" rtlCol="0" anchor="t"/>
          <a:lstStyle/>
          <a:p>
            <a:pPr algn="l" indent="0" marL="0">
              <a:buNone/>
            </a:pPr>
            <a:r>
              <a:rPr lang="en-US" sz="1300" b="1" dirty="0">
                <a:solidFill>
                  <a:schemeClr val="tx1"/>
                </a:solidFill>
              </a:rPr>
              <a:t>Mean Weighted F1: 0.618 → 0.634. </a:t>
            </a:r>
            <a:pPr algn="l" indent="0" marL="0">
              <a:buNone/>
            </a:pPr>
            <a:r>
              <a:rPr lang="en-US" sz="1300" dirty="0">
                <a:solidFill>
                  <a:schemeClr val="tx1"/>
                </a:solidFill>
              </a:rPr>
              <a:t>Character features were better on all 5 seeds.</a:t>
            </a:r>
            <a:endParaRPr lang="en-US" sz="1300" dirty="0"/>
          </a:p>
        </p:txBody>
      </p:sp>
      <p:sp>
        <p:nvSpPr>
          <p:cNvPr id="14" name="Text 11"/>
          <p:cNvSpPr txBox="1"/>
          <p:nvPr/>
        </p:nvSpPr>
        <p:spPr>
          <a:xfrm>
            <a:off x="4114800" y="4251960"/>
            <a:ext cx="4572000" cy="457200"/>
          </a:xfrm>
          <a:prstGeom prst="rect">
            <a:avLst/>
          </a:prstGeom>
          <a:noFill/>
          <a:ln/>
        </p:spPr>
        <p:txBody>
          <a:bodyPr wrap="square" lIns="0" tIns="0" rIns="0" bIns="0" rtlCol="0" anchor="t"/>
          <a:lstStyle/>
          <a:p>
            <a:pPr algn="l" indent="0" marL="0">
              <a:buNone/>
            </a:pPr>
            <a:r>
              <a:rPr lang="en-US" sz="1200" dirty="0">
                <a:solidFill>
                  <a:schemeClr val="accent3"/>
                </a:solidFill>
              </a:rPr>
              <a:t>Evidence: sentence-level 0.480 → phrase-level 0.560 (single split). Factors: fixed 0.386 → tuned 0.442 (single split).</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From Prediction to Explanation</a:t>
            </a:r>
            <a:endParaRPr lang="en-US" sz="3000" dirty="0"/>
          </a:p>
        </p:txBody>
      </p:sp>
      <p:sp>
        <p:nvSpPr>
          <p:cNvPr id="3" name="Text 1"/>
          <p:cNvSpPr txBox="1"/>
          <p:nvPr/>
        </p:nvSpPr>
        <p:spPr>
          <a:xfrm>
            <a:off x="457200" y="1005840"/>
            <a:ext cx="5486400" cy="274320"/>
          </a:xfrm>
          <a:prstGeom prst="rect">
            <a:avLst/>
          </a:prstGeom>
          <a:noFill/>
          <a:ln/>
        </p:spPr>
        <p:txBody>
          <a:bodyPr wrap="square" lIns="0" tIns="0" rIns="0" bIns="0" rtlCol="0" anchor="t"/>
          <a:lstStyle/>
          <a:p>
            <a:pPr algn="l" indent="0" marL="0">
              <a:buNone/>
            </a:pPr>
            <a:r>
              <a:rPr lang="en-US" sz="1200" i="1" dirty="0">
                <a:solidFill>
                  <a:schemeClr val="accent3"/>
                </a:solidFill>
              </a:rPr>
              <a:t>Annotated training-set example (post P00053)</a:t>
            </a:r>
            <a:endParaRPr lang="en-US" sz="1200" dirty="0"/>
          </a:p>
        </p:txBody>
      </p:sp>
      <p:sp>
        <p:nvSpPr>
          <p:cNvPr id="4" name="post"/>
          <p:cNvSpPr/>
          <p:nvPr/>
        </p:nvSpPr>
        <p:spPr>
          <a:xfrm>
            <a:off x="457200" y="1325880"/>
            <a:ext cx="8229600" cy="1051560"/>
          </a:xfrm>
          <a:prstGeom prst="roundRect">
            <a:avLst>
              <a:gd name="adj" fmla="val 69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371600"/>
            <a:ext cx="7863840" cy="960120"/>
          </a:xfrm>
          <a:prstGeom prst="rect">
            <a:avLst/>
          </a:prstGeom>
          <a:noFill/>
          <a:ln/>
        </p:spPr>
        <p:txBody>
          <a:bodyPr wrap="square" lIns="0" tIns="0" rIns="0" bIns="0" rtlCol="0" anchor="ctr"/>
          <a:lstStyle/>
          <a:p>
            <a:pPr indent="0" marL="0">
              <a:buNone/>
            </a:pPr>
            <a:r>
              <a:rPr lang="en-US" sz="1300" i="1" dirty="0">
                <a:solidFill>
                  <a:schemeClr val="tx1"/>
                </a:solidFill>
              </a:rPr>
              <a:t>“Whats the point of staying alive when I already know what my future life is gonna be like (much much worse than my current). Its never going to get better. I dont wanna work on making it get better, I just </a:t>
            </a:r>
            <a:pPr indent="0" marL="0">
              <a:buNone/>
            </a:pPr>
            <a:r>
              <a:rPr lang="en-US" sz="1300" b="1" i="1" u="sng" dirty="0">
                <a:solidFill>
                  <a:schemeClr val="accent1"/>
                </a:solidFill>
                <a:uFill>
                  <a:solidFill>
                    <a:schemeClr val="accent1"/>
                  </a:solidFill>
                </a:uFill>
              </a:rPr>
              <a:t>wanna die</a:t>
            </a:r>
            <a:pPr indent="0" marL="0">
              <a:buNone/>
            </a:pPr>
            <a:r>
              <a:rPr lang="en-US" sz="1300" i="1" dirty="0">
                <a:solidFill>
                  <a:schemeClr val="tx1"/>
                </a:solidFill>
              </a:rPr>
              <a:t>.”</a:t>
            </a:r>
            <a:endParaRPr lang="en-US" sz="1300" dirty="0"/>
          </a:p>
        </p:txBody>
      </p:sp>
      <p:sp>
        <p:nvSpPr>
          <p:cNvPr id="6" name="Shape 4"/>
          <p:cNvSpPr/>
          <p:nvPr/>
        </p:nvSpPr>
        <p:spPr>
          <a:xfrm>
            <a:off x="1737360" y="2377440"/>
            <a:ext cx="0" cy="228600"/>
          </a:xfrm>
          <a:prstGeom prst="line">
            <a:avLst/>
          </a:prstGeom>
          <a:noFill/>
          <a:ln w="19050">
            <a:solidFill>
              <a:schemeClr val="accent3"/>
            </a:solidFill>
            <a:prstDash val="solid"/>
            <a:tailEnd type="triangle"/>
          </a:ln>
        </p:spPr>
      </p:sp>
      <p:sp>
        <p:nvSpPr>
          <p:cNvPr id="7" name="lbl"/>
          <p:cNvSpPr/>
          <p:nvPr/>
        </p:nvSpPr>
        <p:spPr>
          <a:xfrm>
            <a:off x="457200" y="26060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PREDICTED RISK</a:t>
            </a:r>
            <a:endParaRPr lang="en-US" sz="1100" dirty="0"/>
          </a:p>
        </p:txBody>
      </p:sp>
      <p:sp>
        <p:nvSpPr>
          <p:cNvPr id="8" name="out"/>
          <p:cNvSpPr/>
          <p:nvPr/>
        </p:nvSpPr>
        <p:spPr>
          <a:xfrm>
            <a:off x="457200" y="2926080"/>
            <a:ext cx="2560320" cy="640080"/>
          </a:xfrm>
          <a:prstGeom prst="roundRect">
            <a:avLst>
              <a:gd name="adj" fmla="val 11429"/>
            </a:avLst>
          </a:prstGeom>
          <a:solidFill>
            <a:schemeClr val="accent2"/>
          </a:solidFill>
          <a:ln w="12700">
            <a:solidFill>
              <a:schemeClr val="accent2"/>
            </a:solidFill>
          </a:ln>
        </p:spPr>
        <p:txBody>
          <a:bodyPr wrap="square" lIns="762" tIns="762" rIns="762" bIns="762" rtlCol="0" anchor="ctr"/>
          <a:lstStyle/>
          <a:p>
            <a:pPr algn="ctr" indent="0" marL="0">
              <a:buNone/>
            </a:pPr>
            <a:r>
              <a:rPr lang="en-US" sz="1700" b="1" dirty="0">
                <a:solidFill>
                  <a:schemeClr val="bg1"/>
                </a:solidFill>
              </a:rPr>
              <a:t>Ideation</a:t>
            </a:r>
            <a:endParaRPr lang="en-US" sz="1700" dirty="0"/>
          </a:p>
        </p:txBody>
      </p:sp>
      <p:sp>
        <p:nvSpPr>
          <p:cNvPr id="9" name="Shape 7"/>
          <p:cNvSpPr/>
          <p:nvPr/>
        </p:nvSpPr>
        <p:spPr>
          <a:xfrm>
            <a:off x="4572000" y="2377440"/>
            <a:ext cx="0" cy="228600"/>
          </a:xfrm>
          <a:prstGeom prst="line">
            <a:avLst/>
          </a:prstGeom>
          <a:noFill/>
          <a:ln w="19050">
            <a:solidFill>
              <a:schemeClr val="accent3"/>
            </a:solidFill>
            <a:prstDash val="solid"/>
            <a:tailEnd type="triangle"/>
          </a:ln>
        </p:spPr>
      </p:sp>
      <p:sp>
        <p:nvSpPr>
          <p:cNvPr id="10" name="lbl"/>
          <p:cNvSpPr/>
          <p:nvPr/>
        </p:nvSpPr>
        <p:spPr>
          <a:xfrm>
            <a:off x="3291840" y="26060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EVIDENCE</a:t>
            </a:r>
            <a:endParaRPr lang="en-US" sz="1100" dirty="0"/>
          </a:p>
        </p:txBody>
      </p:sp>
      <p:sp>
        <p:nvSpPr>
          <p:cNvPr id="11" name="out"/>
          <p:cNvSpPr/>
          <p:nvPr/>
        </p:nvSpPr>
        <p:spPr>
          <a:xfrm>
            <a:off x="3291840" y="2926080"/>
            <a:ext cx="2560320" cy="640080"/>
          </a:xfrm>
          <a:prstGeom prst="roundRect">
            <a:avLst>
              <a:gd name="adj" fmla="val 11429"/>
            </a:avLst>
          </a:prstGeom>
          <a:solidFill>
            <a:schemeClr val="accent1"/>
          </a:solidFill>
          <a:ln w="12700">
            <a:solidFill>
              <a:schemeClr val="accent1"/>
            </a:solidFill>
          </a:ln>
        </p:spPr>
        <p:txBody>
          <a:bodyPr wrap="square" lIns="762" tIns="762" rIns="762" bIns="762" rtlCol="0" anchor="ctr"/>
          <a:lstStyle/>
          <a:p>
            <a:pPr algn="ctr" indent="0" marL="0">
              <a:buNone/>
            </a:pPr>
            <a:r>
              <a:rPr lang="en-US" sz="1700" b="1" dirty="0">
                <a:solidFill>
                  <a:schemeClr val="bg1"/>
                </a:solidFill>
              </a:rPr>
              <a:t>“wanna die”</a:t>
            </a:r>
            <a:endParaRPr lang="en-US" sz="1700" dirty="0"/>
          </a:p>
        </p:txBody>
      </p:sp>
      <p:sp>
        <p:nvSpPr>
          <p:cNvPr id="12" name="Shape 10"/>
          <p:cNvSpPr/>
          <p:nvPr/>
        </p:nvSpPr>
        <p:spPr>
          <a:xfrm>
            <a:off x="7406640" y="2377440"/>
            <a:ext cx="0" cy="228600"/>
          </a:xfrm>
          <a:prstGeom prst="line">
            <a:avLst/>
          </a:prstGeom>
          <a:noFill/>
          <a:ln w="19050">
            <a:solidFill>
              <a:schemeClr val="accent3"/>
            </a:solidFill>
            <a:prstDash val="solid"/>
            <a:tailEnd type="triangle"/>
          </a:ln>
        </p:spPr>
      </p:sp>
      <p:sp>
        <p:nvSpPr>
          <p:cNvPr id="13" name="lbl"/>
          <p:cNvSpPr/>
          <p:nvPr/>
        </p:nvSpPr>
        <p:spPr>
          <a:xfrm>
            <a:off x="6126480" y="26060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FACTORS</a:t>
            </a:r>
            <a:endParaRPr lang="en-US" sz="1100" dirty="0"/>
          </a:p>
        </p:txBody>
      </p:sp>
      <p:sp>
        <p:nvSpPr>
          <p:cNvPr id="14" name="out"/>
          <p:cNvSpPr/>
          <p:nvPr/>
        </p:nvSpPr>
        <p:spPr>
          <a:xfrm>
            <a:off x="6126480" y="2926080"/>
            <a:ext cx="2560320" cy="640080"/>
          </a:xfrm>
          <a:prstGeom prst="roundRect">
            <a:avLst>
              <a:gd name="adj" fmla="val 11429"/>
            </a:avLst>
          </a:prstGeom>
          <a:solidFill>
            <a:schemeClr val="accent5"/>
          </a:solidFill>
          <a:ln w="12700">
            <a:solidFill>
              <a:schemeClr val="accent5"/>
            </a:solidFill>
          </a:ln>
        </p:spPr>
        <p:txBody>
          <a:bodyPr wrap="square" lIns="762" tIns="762" rIns="762" bIns="762" rtlCol="0" anchor="ctr"/>
          <a:lstStyle/>
          <a:p>
            <a:pPr algn="ctr" indent="0" marL="0">
              <a:buNone/>
            </a:pPr>
            <a:r>
              <a:rPr lang="en-US" sz="1700" b="1" dirty="0">
                <a:solidFill>
                  <a:schemeClr val="bg1"/>
                </a:solidFill>
              </a:rPr>
              <a:t>hopelessness</a:t>
            </a:r>
            <a:endParaRPr lang="en-US" sz="1700" dirty="0"/>
          </a:p>
        </p:txBody>
      </p:sp>
      <p:sp>
        <p:nvSpPr>
          <p:cNvPr id="15" name="banner"/>
          <p:cNvSpPr/>
          <p:nvPr/>
        </p:nvSpPr>
        <p:spPr>
          <a:xfrm>
            <a:off x="457200" y="3840480"/>
            <a:ext cx="8229600" cy="731520"/>
          </a:xfrm>
          <a:prstGeom prst="roundRect">
            <a:avLst>
              <a:gd name="adj" fmla="val 10000"/>
            </a:avLst>
          </a:prstGeom>
          <a:solidFill>
            <a:schemeClr val="tx1"/>
          </a:solidFill>
          <a:ln w="12700">
            <a:solidFill>
              <a:schemeClr val="tx1"/>
            </a:solidFill>
          </a:ln>
        </p:spPr>
        <p:txBody>
          <a:bodyPr wrap="square" lIns="1905" tIns="1905" rIns="1905" bIns="1905" rtlCol="0" anchor="ctr"/>
          <a:lstStyle/>
          <a:p>
            <a:pPr algn="ctr" indent="0" marL="0">
              <a:buNone/>
            </a:pPr>
            <a:r>
              <a:rPr lang="en-US" sz="1400" dirty="0">
                <a:solidFill>
                  <a:schemeClr val="bg1"/>
                </a:solidFill>
              </a:rPr>
              <a:t>Evidence is extracted as an exact substring of the original post — not generated or paraphrased. Automated check on the submission file: 0 of 323 spans were non-verbatim.</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Current Model Performance</a:t>
            </a:r>
            <a:endParaRPr lang="en-US" sz="3000" dirty="0"/>
          </a:p>
        </p:txBody>
      </p:sp>
      <p:sp>
        <p:nvSpPr>
          <p:cNvPr id="3" name="card"/>
          <p:cNvSpPr/>
          <p:nvPr/>
        </p:nvSpPr>
        <p:spPr>
          <a:xfrm>
            <a:off x="45720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Text 2"/>
          <p:cNvSpPr txBox="1"/>
          <p:nvPr/>
        </p:nvSpPr>
        <p:spPr>
          <a:xfrm>
            <a:off x="594360" y="1143000"/>
            <a:ext cx="2286000" cy="228600"/>
          </a:xfrm>
          <a:prstGeom prst="rect">
            <a:avLst/>
          </a:prstGeom>
          <a:noFill/>
          <a:ln/>
        </p:spPr>
        <p:txBody>
          <a:bodyPr wrap="square" lIns="0" tIns="0" rIns="0" bIns="0" rtlCol="0" anchor="t"/>
          <a:lstStyle/>
          <a:p>
            <a:pPr algn="l" indent="0" marL="0">
              <a:buNone/>
            </a:pPr>
            <a:r>
              <a:rPr lang="en-US" sz="1100" b="1" dirty="0">
                <a:solidFill>
                  <a:schemeClr val="accent2"/>
                </a:solidFill>
              </a:rPr>
              <a:t>RISK CLASSIFICATION</a:t>
            </a:r>
            <a:endParaRPr lang="en-US" sz="1100" dirty="0"/>
          </a:p>
        </p:txBody>
      </p:sp>
      <p:sp>
        <p:nvSpPr>
          <p:cNvPr id="5" name="Text 3"/>
          <p:cNvSpPr txBox="1"/>
          <p:nvPr/>
        </p:nvSpPr>
        <p:spPr>
          <a:xfrm>
            <a:off x="59436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0.6468</a:t>
            </a:r>
            <a:endParaRPr lang="en-US" sz="4400" dirty="0"/>
          </a:p>
        </p:txBody>
      </p:sp>
      <p:sp>
        <p:nvSpPr>
          <p:cNvPr id="6" name="Text 4"/>
          <p:cNvSpPr txBox="1"/>
          <p:nvPr/>
        </p:nvSpPr>
        <p:spPr>
          <a:xfrm>
            <a:off x="594360" y="2103120"/>
            <a:ext cx="2286000" cy="274320"/>
          </a:xfrm>
          <a:prstGeom prst="rect">
            <a:avLst/>
          </a:prstGeom>
          <a:noFill/>
          <a:ln/>
        </p:spPr>
        <p:txBody>
          <a:bodyPr wrap="square" lIns="0" tIns="0" rIns="0" bIns="0" rtlCol="0" anchor="t"/>
          <a:lstStyle/>
          <a:p>
            <a:pPr algn="l" indent="0" marL="0">
              <a:buNone/>
            </a:pPr>
            <a:r>
              <a:rPr lang="en-US" sz="1400" dirty="0">
                <a:solidFill>
                  <a:schemeClr val="accent3"/>
                </a:solidFill>
              </a:rPr>
              <a:t>Weighted F1</a:t>
            </a:r>
            <a:endParaRPr lang="en-US" sz="1400" dirty="0"/>
          </a:p>
        </p:txBody>
      </p:sp>
      <p:sp>
        <p:nvSpPr>
          <p:cNvPr id="7" name="card"/>
          <p:cNvSpPr/>
          <p:nvPr/>
        </p:nvSpPr>
        <p:spPr>
          <a:xfrm>
            <a:off x="329184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8" name="Text 6"/>
          <p:cNvSpPr txBox="1"/>
          <p:nvPr/>
        </p:nvSpPr>
        <p:spPr>
          <a:xfrm>
            <a:off x="3429000" y="1143000"/>
            <a:ext cx="2286000" cy="228600"/>
          </a:xfrm>
          <a:prstGeom prst="rect">
            <a:avLst/>
          </a:prstGeom>
          <a:noFill/>
          <a:ln/>
        </p:spPr>
        <p:txBody>
          <a:bodyPr wrap="square" lIns="0" tIns="0" rIns="0" bIns="0" rtlCol="0" anchor="t"/>
          <a:lstStyle/>
          <a:p>
            <a:pPr algn="l" indent="0" marL="0">
              <a:buNone/>
            </a:pPr>
            <a:r>
              <a:rPr lang="en-US" sz="1100" b="1" dirty="0">
                <a:solidFill>
                  <a:schemeClr val="accent1"/>
                </a:solidFill>
              </a:rPr>
              <a:t>EVIDENCE EXTRACTION</a:t>
            </a:r>
            <a:endParaRPr lang="en-US" sz="1100" dirty="0"/>
          </a:p>
        </p:txBody>
      </p:sp>
      <p:sp>
        <p:nvSpPr>
          <p:cNvPr id="9" name="Text 7"/>
          <p:cNvSpPr txBox="1"/>
          <p:nvPr/>
        </p:nvSpPr>
        <p:spPr>
          <a:xfrm>
            <a:off x="342900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0.5599</a:t>
            </a:r>
            <a:endParaRPr lang="en-US" sz="4400" dirty="0"/>
          </a:p>
        </p:txBody>
      </p:sp>
      <p:sp>
        <p:nvSpPr>
          <p:cNvPr id="10" name="Text 8"/>
          <p:cNvSpPr txBox="1"/>
          <p:nvPr/>
        </p:nvSpPr>
        <p:spPr>
          <a:xfrm>
            <a:off x="3429000" y="2103120"/>
            <a:ext cx="2286000" cy="274320"/>
          </a:xfrm>
          <a:prstGeom prst="rect">
            <a:avLst/>
          </a:prstGeom>
          <a:noFill/>
          <a:ln/>
        </p:spPr>
        <p:txBody>
          <a:bodyPr wrap="square" lIns="0" tIns="0" rIns="0" bIns="0" rtlCol="0" anchor="t"/>
          <a:lstStyle/>
          <a:p>
            <a:pPr algn="l" indent="0" marL="0">
              <a:buNone/>
            </a:pPr>
            <a:r>
              <a:rPr lang="en-US" sz="1400" dirty="0">
                <a:solidFill>
                  <a:schemeClr val="accent3"/>
                </a:solidFill>
              </a:rPr>
              <a:t>Phrase F1</a:t>
            </a:r>
            <a:endParaRPr lang="en-US" sz="1400" dirty="0"/>
          </a:p>
        </p:txBody>
      </p:sp>
      <p:sp>
        <p:nvSpPr>
          <p:cNvPr id="11" name="card"/>
          <p:cNvSpPr/>
          <p:nvPr/>
        </p:nvSpPr>
        <p:spPr>
          <a:xfrm>
            <a:off x="612648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2" name="Text 10"/>
          <p:cNvSpPr txBox="1"/>
          <p:nvPr/>
        </p:nvSpPr>
        <p:spPr>
          <a:xfrm>
            <a:off x="6263640" y="1143000"/>
            <a:ext cx="2286000" cy="228600"/>
          </a:xfrm>
          <a:prstGeom prst="rect">
            <a:avLst/>
          </a:prstGeom>
          <a:noFill/>
          <a:ln/>
        </p:spPr>
        <p:txBody>
          <a:bodyPr wrap="square" lIns="0" tIns="0" rIns="0" bIns="0" rtlCol="0" anchor="t"/>
          <a:lstStyle/>
          <a:p>
            <a:pPr algn="l" indent="0" marL="0">
              <a:buNone/>
            </a:pPr>
            <a:r>
              <a:rPr lang="en-US" sz="1100" b="1" dirty="0">
                <a:solidFill>
                  <a:schemeClr val="accent5"/>
                </a:solidFill>
              </a:rPr>
              <a:t>FACTOR IDENTIFICATION</a:t>
            </a:r>
            <a:endParaRPr lang="en-US" sz="1100" dirty="0"/>
          </a:p>
        </p:txBody>
      </p:sp>
      <p:sp>
        <p:nvSpPr>
          <p:cNvPr id="13" name="Text 11"/>
          <p:cNvSpPr txBox="1"/>
          <p:nvPr/>
        </p:nvSpPr>
        <p:spPr>
          <a:xfrm>
            <a:off x="626364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0.4419</a:t>
            </a:r>
            <a:endParaRPr lang="en-US" sz="4400" dirty="0"/>
          </a:p>
        </p:txBody>
      </p:sp>
      <p:sp>
        <p:nvSpPr>
          <p:cNvPr id="14" name="Text 12"/>
          <p:cNvSpPr txBox="1"/>
          <p:nvPr/>
        </p:nvSpPr>
        <p:spPr>
          <a:xfrm>
            <a:off x="6263640" y="2103120"/>
            <a:ext cx="2286000" cy="274320"/>
          </a:xfrm>
          <a:prstGeom prst="rect">
            <a:avLst/>
          </a:prstGeom>
          <a:noFill/>
          <a:ln/>
        </p:spPr>
        <p:txBody>
          <a:bodyPr wrap="square" lIns="0" tIns="0" rIns="0" bIns="0" rtlCol="0" anchor="t"/>
          <a:lstStyle/>
          <a:p>
            <a:pPr algn="l" indent="0" marL="0">
              <a:buNone/>
            </a:pPr>
            <a:r>
              <a:rPr lang="en-US" sz="1400" dirty="0">
                <a:solidFill>
                  <a:schemeClr val="accent3"/>
                </a:solidFill>
              </a:rPr>
              <a:t>Macro F1</a:t>
            </a:r>
            <a:endParaRPr lang="en-US" sz="1400" dirty="0"/>
          </a:p>
        </p:txBody>
      </p:sp>
      <p:graphicFrame>
        <p:nvGraphicFramePr>
          <p:cNvPr id="15" name="Chart 0" descr=""/>
          <p:cNvGraphicFramePr/>
          <p:nvPr/>
        </p:nvGraphicFramePr>
        <p:xfrm>
          <a:off x="457200" y="2651760"/>
          <a:ext cx="5120640" cy="20574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852160" y="2697480"/>
            <a:ext cx="2834640" cy="274320"/>
          </a:xfrm>
          <a:prstGeom prst="rect">
            <a:avLst/>
          </a:prstGeom>
          <a:noFill/>
          <a:ln/>
        </p:spPr>
        <p:txBody>
          <a:bodyPr wrap="square" lIns="0" tIns="0" rIns="0" bIns="0" rtlCol="0" anchor="t"/>
          <a:lstStyle/>
          <a:p>
            <a:pPr algn="l" indent="0" marL="0">
              <a:buNone/>
            </a:pPr>
            <a:r>
              <a:rPr lang="en-US" sz="1400" b="1" dirty="0">
                <a:solidFill>
                  <a:schemeClr val="tx1"/>
                </a:solidFill>
              </a:rPr>
              <a:t>Evaluation basis</a:t>
            </a:r>
            <a:endParaRPr lang="en-US" sz="1400" dirty="0"/>
          </a:p>
        </p:txBody>
      </p:sp>
      <p:sp>
        <p:nvSpPr>
          <p:cNvPr id="17" name="Text 14"/>
          <p:cNvSpPr txBox="1"/>
          <p:nvPr/>
        </p:nvSpPr>
        <p:spPr>
          <a:xfrm>
            <a:off x="5852160" y="3017520"/>
            <a:ext cx="283464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Held-out validation split: 380 posts, grouped by user</a:t>
            </a:r>
            <a:endParaRPr lang="en-US" sz="1200" dirty="0"/>
          </a:p>
          <a:p>
            <a:pPr marL="342900" indent="-342900">
              <a:spcAft>
                <a:spcPts val="600"/>
              </a:spcAft>
              <a:buSzPct val="100000"/>
              <a:buChar char="•"/>
            </a:pPr>
            <a:r>
              <a:rPr lang="en-US" sz="1200" dirty="0">
                <a:solidFill>
                  <a:schemeClr val="tx1"/>
                </a:solidFill>
              </a:rPr>
              <a:t>Evidence uses a local approximation of the official metric</a:t>
            </a:r>
            <a:endParaRPr lang="en-US" sz="1200" dirty="0"/>
          </a:p>
          <a:p>
            <a:pPr marL="342900" indent="-342900">
              <a:spcAft>
                <a:spcPts val="600"/>
              </a:spcAft>
              <a:buSzPct val="100000"/>
              <a:buChar char="•"/>
            </a:pPr>
            <a:r>
              <a:rPr lang="en-US" sz="1200" dirty="0">
                <a:solidFill>
                  <a:schemeClr val="tx1"/>
                </a:solidFill>
              </a:rPr>
              <a:t>Validation scores, not official leaderboard scores</a:t>
            </a:r>
            <a:endParaRPr lang="en-US" sz="1200" dirty="0"/>
          </a:p>
          <a:p>
            <a:pPr marL="342900" indent="-342900">
              <a:spcAft>
                <a:spcPts val="600"/>
              </a:spcAft>
              <a:buSzPct val="100000"/>
              <a:buChar char="•"/>
            </a:pPr>
            <a:r>
              <a:rPr lang="en-US" sz="1200" dirty="0">
                <a:solidFill>
                  <a:schemeClr val="tx1"/>
                </a:solidFill>
              </a:rPr>
              <a:t>The three metrics are not directly comparable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Robust Validation Strategy</a:t>
            </a:r>
            <a:endParaRPr lang="en-US" sz="3000" dirty="0"/>
          </a:p>
        </p:txBody>
      </p:sp>
      <p:sp>
        <p:nvSpPr>
          <p:cNvPr id="3" name="seed"/>
          <p:cNvSpPr/>
          <p:nvPr/>
        </p:nvSpPr>
        <p:spPr>
          <a:xfrm>
            <a:off x="457200" y="1097280"/>
            <a:ext cx="1463040" cy="822960"/>
          </a:xfrm>
          <a:prstGeom prst="roundRect">
            <a:avLst>
              <a:gd name="adj" fmla="val 8889"/>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Text 2"/>
          <p:cNvSpPr txBox="1"/>
          <p:nvPr/>
        </p:nvSpPr>
        <p:spPr>
          <a:xfrm>
            <a:off x="548640" y="1161288"/>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Seed 42</a:t>
            </a:r>
            <a:endParaRPr lang="en-US" sz="1200" dirty="0"/>
          </a:p>
        </p:txBody>
      </p:sp>
      <p:sp>
        <p:nvSpPr>
          <p:cNvPr id="5" name="Text 3"/>
          <p:cNvSpPr txBox="1"/>
          <p:nvPr/>
        </p:nvSpPr>
        <p:spPr>
          <a:xfrm>
            <a:off x="548640" y="1444752"/>
            <a:ext cx="1280160" cy="365760"/>
          </a:xfrm>
          <a:prstGeom prst="rect">
            <a:avLst/>
          </a:prstGeom>
          <a:noFill/>
          <a:ln/>
        </p:spPr>
        <p:txBody>
          <a:bodyPr wrap="square" lIns="0" tIns="0" rIns="0" bIns="0" rtlCol="0" anchor="t"/>
          <a:lstStyle/>
          <a:p>
            <a:pPr algn="ctr" indent="0" marL="0">
              <a:buNone/>
            </a:pPr>
            <a:r>
              <a:rPr lang="en-US" sz="2000" b="1" dirty="0">
                <a:solidFill>
                  <a:schemeClr val="tx1"/>
                </a:solidFill>
              </a:rPr>
              <a:t>0.6472</a:t>
            </a:r>
            <a:endParaRPr lang="en-US" sz="2000" dirty="0"/>
          </a:p>
        </p:txBody>
      </p:sp>
      <p:sp>
        <p:nvSpPr>
          <p:cNvPr id="6" name="Shape 4"/>
          <p:cNvSpPr/>
          <p:nvPr/>
        </p:nvSpPr>
        <p:spPr>
          <a:xfrm>
            <a:off x="1188720" y="1920240"/>
            <a:ext cx="0" cy="320040"/>
          </a:xfrm>
          <a:prstGeom prst="line">
            <a:avLst/>
          </a:prstGeom>
          <a:noFill/>
          <a:ln w="19050">
            <a:solidFill>
              <a:schemeClr val="accent3"/>
            </a:solidFill>
            <a:prstDash val="solid"/>
            <a:tailEnd type="triangle"/>
          </a:ln>
        </p:spPr>
      </p:sp>
      <p:sp>
        <p:nvSpPr>
          <p:cNvPr id="7" name="seed"/>
          <p:cNvSpPr/>
          <p:nvPr/>
        </p:nvSpPr>
        <p:spPr>
          <a:xfrm>
            <a:off x="2148840" y="1097280"/>
            <a:ext cx="1463040" cy="822960"/>
          </a:xfrm>
          <a:prstGeom prst="roundRect">
            <a:avLst>
              <a:gd name="adj" fmla="val 8889"/>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8" name="Text 6"/>
          <p:cNvSpPr txBox="1"/>
          <p:nvPr/>
        </p:nvSpPr>
        <p:spPr>
          <a:xfrm>
            <a:off x="2240280" y="1161288"/>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Seed 52</a:t>
            </a:r>
            <a:endParaRPr lang="en-US" sz="1200" dirty="0"/>
          </a:p>
        </p:txBody>
      </p:sp>
      <p:sp>
        <p:nvSpPr>
          <p:cNvPr id="9" name="Text 7"/>
          <p:cNvSpPr txBox="1"/>
          <p:nvPr/>
        </p:nvSpPr>
        <p:spPr>
          <a:xfrm>
            <a:off x="2240280" y="1444752"/>
            <a:ext cx="1280160" cy="365760"/>
          </a:xfrm>
          <a:prstGeom prst="rect">
            <a:avLst/>
          </a:prstGeom>
          <a:noFill/>
          <a:ln/>
        </p:spPr>
        <p:txBody>
          <a:bodyPr wrap="square" lIns="0" tIns="0" rIns="0" bIns="0" rtlCol="0" anchor="t"/>
          <a:lstStyle/>
          <a:p>
            <a:pPr algn="ctr" indent="0" marL="0">
              <a:buNone/>
            </a:pPr>
            <a:r>
              <a:rPr lang="en-US" sz="2000" b="1" dirty="0">
                <a:solidFill>
                  <a:schemeClr val="tx1"/>
                </a:solidFill>
              </a:rPr>
              <a:t>0.6610</a:t>
            </a:r>
            <a:endParaRPr lang="en-US" sz="2000" dirty="0"/>
          </a:p>
        </p:txBody>
      </p:sp>
      <p:sp>
        <p:nvSpPr>
          <p:cNvPr id="10" name="Shape 8"/>
          <p:cNvSpPr/>
          <p:nvPr/>
        </p:nvSpPr>
        <p:spPr>
          <a:xfrm>
            <a:off x="2880360" y="1920240"/>
            <a:ext cx="0" cy="320040"/>
          </a:xfrm>
          <a:prstGeom prst="line">
            <a:avLst/>
          </a:prstGeom>
          <a:noFill/>
          <a:ln w="19050">
            <a:solidFill>
              <a:schemeClr val="accent3"/>
            </a:solidFill>
            <a:prstDash val="solid"/>
            <a:tailEnd type="triangle"/>
          </a:ln>
        </p:spPr>
      </p:sp>
      <p:sp>
        <p:nvSpPr>
          <p:cNvPr id="11" name="seed"/>
          <p:cNvSpPr/>
          <p:nvPr/>
        </p:nvSpPr>
        <p:spPr>
          <a:xfrm>
            <a:off x="3840480" y="1097280"/>
            <a:ext cx="1463040" cy="822960"/>
          </a:xfrm>
          <a:prstGeom prst="roundRect">
            <a:avLst>
              <a:gd name="adj" fmla="val 8889"/>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2" name="Text 10"/>
          <p:cNvSpPr txBox="1"/>
          <p:nvPr/>
        </p:nvSpPr>
        <p:spPr>
          <a:xfrm>
            <a:off x="3931920" y="1161288"/>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Seed 62</a:t>
            </a:r>
            <a:endParaRPr lang="en-US" sz="1200" dirty="0"/>
          </a:p>
        </p:txBody>
      </p:sp>
      <p:sp>
        <p:nvSpPr>
          <p:cNvPr id="13" name="Text 11"/>
          <p:cNvSpPr txBox="1"/>
          <p:nvPr/>
        </p:nvSpPr>
        <p:spPr>
          <a:xfrm>
            <a:off x="3931920" y="1444752"/>
            <a:ext cx="1280160" cy="365760"/>
          </a:xfrm>
          <a:prstGeom prst="rect">
            <a:avLst/>
          </a:prstGeom>
          <a:noFill/>
          <a:ln/>
        </p:spPr>
        <p:txBody>
          <a:bodyPr wrap="square" lIns="0" tIns="0" rIns="0" bIns="0" rtlCol="0" anchor="t"/>
          <a:lstStyle/>
          <a:p>
            <a:pPr algn="ctr" indent="0" marL="0">
              <a:buNone/>
            </a:pPr>
            <a:r>
              <a:rPr lang="en-US" sz="2000" b="1" dirty="0">
                <a:solidFill>
                  <a:schemeClr val="tx1"/>
                </a:solidFill>
              </a:rPr>
              <a:t>0.6006</a:t>
            </a:r>
            <a:endParaRPr lang="en-US" sz="2000" dirty="0"/>
          </a:p>
        </p:txBody>
      </p:sp>
      <p:sp>
        <p:nvSpPr>
          <p:cNvPr id="14" name="Shape 12"/>
          <p:cNvSpPr/>
          <p:nvPr/>
        </p:nvSpPr>
        <p:spPr>
          <a:xfrm>
            <a:off x="4572000" y="1920240"/>
            <a:ext cx="0" cy="320040"/>
          </a:xfrm>
          <a:prstGeom prst="line">
            <a:avLst/>
          </a:prstGeom>
          <a:noFill/>
          <a:ln w="19050">
            <a:solidFill>
              <a:schemeClr val="accent3"/>
            </a:solidFill>
            <a:prstDash val="solid"/>
            <a:tailEnd type="triangle"/>
          </a:ln>
        </p:spPr>
      </p:sp>
      <p:sp>
        <p:nvSpPr>
          <p:cNvPr id="15" name="seed"/>
          <p:cNvSpPr/>
          <p:nvPr/>
        </p:nvSpPr>
        <p:spPr>
          <a:xfrm>
            <a:off x="5532120" y="1097280"/>
            <a:ext cx="1463040" cy="822960"/>
          </a:xfrm>
          <a:prstGeom prst="roundRect">
            <a:avLst>
              <a:gd name="adj" fmla="val 8889"/>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6" name="Text 14"/>
          <p:cNvSpPr txBox="1"/>
          <p:nvPr/>
        </p:nvSpPr>
        <p:spPr>
          <a:xfrm>
            <a:off x="5623560" y="1161288"/>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Seed 72</a:t>
            </a:r>
            <a:endParaRPr lang="en-US" sz="1200" dirty="0"/>
          </a:p>
        </p:txBody>
      </p:sp>
      <p:sp>
        <p:nvSpPr>
          <p:cNvPr id="17" name="Text 15"/>
          <p:cNvSpPr txBox="1"/>
          <p:nvPr/>
        </p:nvSpPr>
        <p:spPr>
          <a:xfrm>
            <a:off x="5623560" y="1444752"/>
            <a:ext cx="1280160" cy="365760"/>
          </a:xfrm>
          <a:prstGeom prst="rect">
            <a:avLst/>
          </a:prstGeom>
          <a:noFill/>
          <a:ln/>
        </p:spPr>
        <p:txBody>
          <a:bodyPr wrap="square" lIns="0" tIns="0" rIns="0" bIns="0" rtlCol="0" anchor="t"/>
          <a:lstStyle/>
          <a:p>
            <a:pPr algn="ctr" indent="0" marL="0">
              <a:buNone/>
            </a:pPr>
            <a:r>
              <a:rPr lang="en-US" sz="2000" b="1" dirty="0">
                <a:solidFill>
                  <a:schemeClr val="tx1"/>
                </a:solidFill>
              </a:rPr>
              <a:t>0.6118</a:t>
            </a:r>
            <a:endParaRPr lang="en-US" sz="2000" dirty="0"/>
          </a:p>
        </p:txBody>
      </p:sp>
      <p:sp>
        <p:nvSpPr>
          <p:cNvPr id="18" name="Shape 16"/>
          <p:cNvSpPr/>
          <p:nvPr/>
        </p:nvSpPr>
        <p:spPr>
          <a:xfrm>
            <a:off x="6263640" y="1920240"/>
            <a:ext cx="0" cy="320040"/>
          </a:xfrm>
          <a:prstGeom prst="line">
            <a:avLst/>
          </a:prstGeom>
          <a:noFill/>
          <a:ln w="19050">
            <a:solidFill>
              <a:schemeClr val="accent3"/>
            </a:solidFill>
            <a:prstDash val="solid"/>
            <a:tailEnd type="triangle"/>
          </a:ln>
        </p:spPr>
      </p:sp>
      <p:sp>
        <p:nvSpPr>
          <p:cNvPr id="19" name="seed"/>
          <p:cNvSpPr/>
          <p:nvPr/>
        </p:nvSpPr>
        <p:spPr>
          <a:xfrm>
            <a:off x="7223760" y="1097280"/>
            <a:ext cx="1463040" cy="822960"/>
          </a:xfrm>
          <a:prstGeom prst="roundRect">
            <a:avLst>
              <a:gd name="adj" fmla="val 8889"/>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0" name="Text 18"/>
          <p:cNvSpPr txBox="1"/>
          <p:nvPr/>
        </p:nvSpPr>
        <p:spPr>
          <a:xfrm>
            <a:off x="7315200" y="1161288"/>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Seed 82</a:t>
            </a:r>
            <a:endParaRPr lang="en-US" sz="1200" dirty="0"/>
          </a:p>
        </p:txBody>
      </p:sp>
      <p:sp>
        <p:nvSpPr>
          <p:cNvPr id="21" name="Text 19"/>
          <p:cNvSpPr txBox="1"/>
          <p:nvPr/>
        </p:nvSpPr>
        <p:spPr>
          <a:xfrm>
            <a:off x="7315200" y="1444752"/>
            <a:ext cx="1280160" cy="365760"/>
          </a:xfrm>
          <a:prstGeom prst="rect">
            <a:avLst/>
          </a:prstGeom>
          <a:noFill/>
          <a:ln/>
        </p:spPr>
        <p:txBody>
          <a:bodyPr wrap="square" lIns="0" tIns="0" rIns="0" bIns="0" rtlCol="0" anchor="t"/>
          <a:lstStyle/>
          <a:p>
            <a:pPr algn="ctr" indent="0" marL="0">
              <a:buNone/>
            </a:pPr>
            <a:r>
              <a:rPr lang="en-US" sz="2000" b="1" dirty="0">
                <a:solidFill>
                  <a:schemeClr val="tx1"/>
                </a:solidFill>
              </a:rPr>
              <a:t>0.6514</a:t>
            </a:r>
            <a:endParaRPr lang="en-US" sz="2000" dirty="0"/>
          </a:p>
        </p:txBody>
      </p:sp>
      <p:sp>
        <p:nvSpPr>
          <p:cNvPr id="22" name="Shape 20"/>
          <p:cNvSpPr/>
          <p:nvPr/>
        </p:nvSpPr>
        <p:spPr>
          <a:xfrm>
            <a:off x="7955280" y="1920240"/>
            <a:ext cx="0" cy="320040"/>
          </a:xfrm>
          <a:prstGeom prst="line">
            <a:avLst/>
          </a:prstGeom>
          <a:noFill/>
          <a:ln w="19050">
            <a:solidFill>
              <a:schemeClr val="accent3"/>
            </a:solidFill>
            <a:prstDash val="solid"/>
            <a:tailEnd type="triangle"/>
          </a:ln>
        </p:spPr>
      </p:sp>
      <p:sp>
        <p:nvSpPr>
          <p:cNvPr id="23" name="Shape 21"/>
          <p:cNvSpPr/>
          <p:nvPr/>
        </p:nvSpPr>
        <p:spPr>
          <a:xfrm>
            <a:off x="1188720" y="2240280"/>
            <a:ext cx="6766560" cy="0"/>
          </a:xfrm>
          <a:prstGeom prst="line">
            <a:avLst/>
          </a:prstGeom>
          <a:noFill/>
          <a:ln w="19050">
            <a:solidFill>
              <a:schemeClr val="accent3"/>
            </a:solidFill>
            <a:prstDash val="solid"/>
          </a:ln>
        </p:spPr>
      </p:sp>
      <p:sp>
        <p:nvSpPr>
          <p:cNvPr id="24" name="Shape 22"/>
          <p:cNvSpPr/>
          <p:nvPr/>
        </p:nvSpPr>
        <p:spPr>
          <a:xfrm>
            <a:off x="4572000" y="2240280"/>
            <a:ext cx="0" cy="182880"/>
          </a:xfrm>
          <a:prstGeom prst="line">
            <a:avLst/>
          </a:prstGeom>
          <a:noFill/>
          <a:ln w="19050">
            <a:solidFill>
              <a:schemeClr val="accent3"/>
            </a:solidFill>
            <a:prstDash val="solid"/>
            <a:tailEnd type="triangle"/>
          </a:ln>
        </p:spPr>
      </p:sp>
      <p:sp>
        <p:nvSpPr>
          <p:cNvPr id="25" name="mean"/>
          <p:cNvSpPr/>
          <p:nvPr/>
        </p:nvSpPr>
        <p:spPr>
          <a:xfrm>
            <a:off x="3017520" y="2423160"/>
            <a:ext cx="3108960" cy="731520"/>
          </a:xfrm>
          <a:prstGeom prst="roundRect">
            <a:avLst>
              <a:gd name="adj" fmla="val 10000"/>
            </a:avLst>
          </a:prstGeom>
          <a:solidFill>
            <a:schemeClr val="accent6"/>
          </a:solidFill>
          <a:ln w="12700">
            <a:solidFill>
              <a:schemeClr val="accent6"/>
            </a:solidFill>
          </a:ln>
        </p:spPr>
        <p:txBody>
          <a:bodyPr wrap="square" lIns="762" tIns="762" rIns="762" bIns="762" rtlCol="0" anchor="ctr"/>
          <a:lstStyle/>
          <a:p>
            <a:pPr algn="ctr" indent="0" marL="0">
              <a:buNone/>
            </a:pPr>
            <a:r>
              <a:rPr lang="en-US" sz="1500" b="1" dirty="0">
                <a:solidFill>
                  <a:schemeClr val="tx1"/>
                </a:solidFill>
              </a:rPr>
              <a:t>Mean Weighted F1 0.634 (std 0.024)</a:t>
            </a:r>
            <a:endParaRPr lang="en-US" sz="1500" dirty="0"/>
          </a:p>
        </p:txBody>
      </p:sp>
      <p:sp>
        <p:nvSpPr>
          <p:cNvPr id="26" name="Shape 24"/>
          <p:cNvSpPr/>
          <p:nvPr/>
        </p:nvSpPr>
        <p:spPr>
          <a:xfrm>
            <a:off x="4572000" y="3154680"/>
            <a:ext cx="0" cy="182880"/>
          </a:xfrm>
          <a:prstGeom prst="line">
            <a:avLst/>
          </a:prstGeom>
          <a:noFill/>
          <a:ln w="19050">
            <a:solidFill>
              <a:schemeClr val="accent3"/>
            </a:solidFill>
            <a:prstDash val="solid"/>
            <a:tailEnd type="triangle"/>
          </a:ln>
        </p:spPr>
      </p:sp>
      <p:sp>
        <p:nvSpPr>
          <p:cNvPr id="27" name="sel"/>
          <p:cNvSpPr/>
          <p:nvPr/>
        </p:nvSpPr>
        <p:spPr>
          <a:xfrm>
            <a:off x="2103120" y="3337560"/>
            <a:ext cx="4937760" cy="594360"/>
          </a:xfrm>
          <a:prstGeom prst="roundRect">
            <a:avLst>
              <a:gd name="adj" fmla="val 12308"/>
            </a:avLst>
          </a:prstGeom>
          <a:solidFill>
            <a:schemeClr val="accent1"/>
          </a:solidFill>
          <a:ln w="12700">
            <a:solidFill>
              <a:schemeClr val="accent1"/>
            </a:solidFill>
          </a:ln>
        </p:spPr>
        <p:txBody>
          <a:bodyPr wrap="square" lIns="762" tIns="762" rIns="762" bIns="762" rtlCol="0" anchor="ctr"/>
          <a:lstStyle/>
          <a:p>
            <a:pPr algn="ctr" indent="0" marL="0">
              <a:buNone/>
            </a:pPr>
            <a:r>
              <a:rPr lang="en-US" sz="1500" b="1" dirty="0">
                <a:solidFill>
                  <a:schemeClr val="bg1"/>
                </a:solidFill>
              </a:rPr>
              <a:t>Final model: word + char TF-IDF + Logistic Regression</a:t>
            </a:r>
            <a:endParaRPr lang="en-US" sz="1500" dirty="0"/>
          </a:p>
        </p:txBody>
      </p:sp>
      <p:sp>
        <p:nvSpPr>
          <p:cNvPr id="28" name="Text 26"/>
          <p:cNvSpPr txBox="1"/>
          <p:nvPr/>
        </p:nvSpPr>
        <p:spPr>
          <a:xfrm>
            <a:off x="457200" y="4069080"/>
            <a:ext cx="8229600" cy="594360"/>
          </a:xfrm>
          <a:prstGeom prst="rect">
            <a:avLst/>
          </a:prstGeom>
          <a:noFill/>
          <a:ln/>
        </p:spPr>
        <p:txBody>
          <a:bodyPr wrap="square" lIns="0" tIns="0" rIns="0" bIns="0" rtlCol="0" anchor="t"/>
          <a:lstStyle/>
          <a:p>
            <a:pPr algn="ctr" indent="0" marL="0">
              <a:buNone/>
            </a:pPr>
            <a:r>
              <a:rPr lang="en-US" sz="1200" dirty="0">
                <a:solidFill>
                  <a:schemeClr val="accent3"/>
                </a:solidFill>
              </a:rPr>
              <a:t>Risk Weighted F1 on word + char features, 5 random user-grouped splits. 5-seed means: LogReg 0.634, Linear SVM 0.617, LogReg + SVM ensemble 0.634. No significance test was run.</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the Results Tell Us</a:t>
            </a:r>
            <a:endParaRPr lang="en-US" sz="3000" dirty="0"/>
          </a:p>
        </p:txBody>
      </p:sp>
      <p:sp>
        <p:nvSpPr>
          <p:cNvPr id="3" name="Shape 1"/>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05156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Risk classification is the strongest component.</a:t>
            </a:r>
            <a:endParaRPr lang="en-US" sz="1500" dirty="0"/>
          </a:p>
          <a:p>
            <a:pPr algn="l" indent="0" marL="0">
              <a:buNone/>
            </a:pPr>
            <a:r>
              <a:rPr lang="en-US" sz="1300" dirty="0">
                <a:solidFill>
                  <a:schemeClr val="accent3"/>
                </a:solidFill>
              </a:rPr>
              <a:t>Weighted F1 0.647; Indicator class F1 0.80.</a:t>
            </a:r>
            <a:endParaRPr lang="en-US" sz="1500" dirty="0"/>
          </a:p>
        </p:txBody>
      </p:sp>
      <p:sp>
        <p:nvSpPr>
          <p:cNvPr id="6" name="Shape 4"/>
          <p:cNvSpPr/>
          <p:nvPr/>
        </p:nvSpPr>
        <p:spPr>
          <a:xfrm>
            <a:off x="457200" y="182880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43000" y="178308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Character n-grams help with informal text.</a:t>
            </a:r>
            <a:endParaRPr lang="en-US" sz="1500" dirty="0"/>
          </a:p>
          <a:p>
            <a:pPr algn="l" indent="0" marL="0">
              <a:buNone/>
            </a:pPr>
            <a:r>
              <a:rPr lang="en-US" sz="1300" dirty="0">
                <a:solidFill>
                  <a:schemeClr val="accent3"/>
                </a:solidFill>
              </a:rPr>
              <a:t>+0.016 mean Weighted F1 over word-only (5 seeds).</a:t>
            </a:r>
            <a:endParaRPr lang="en-US" sz="1500" dirty="0"/>
          </a:p>
        </p:txBody>
      </p:sp>
      <p:sp>
        <p:nvSpPr>
          <p:cNvPr id="9" name="Shape 7"/>
          <p:cNvSpPr/>
          <p:nvPr/>
        </p:nvSpPr>
        <p:spPr>
          <a:xfrm>
            <a:off x="457200" y="25603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43000" y="251460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Evidence gives a direct explanation.</a:t>
            </a:r>
            <a:endParaRPr lang="en-US" sz="1500" dirty="0"/>
          </a:p>
          <a:p>
            <a:pPr algn="l" indent="0" marL="0">
              <a:buNone/>
            </a:pPr>
            <a:r>
              <a:rPr lang="en-US" sz="1300" dirty="0">
                <a:solidFill>
                  <a:schemeClr val="accent3"/>
                </a:solidFill>
              </a:rPr>
              <a:t>Phrase F1 0.560 vs 0.480 for sentence-level.</a:t>
            </a:r>
            <a:endParaRPr lang="en-US" sz="1500" dirty="0"/>
          </a:p>
        </p:txBody>
      </p:sp>
      <p:sp>
        <p:nvSpPr>
          <p:cNvPr id="12" name="Shape 10"/>
          <p:cNvSpPr/>
          <p:nvPr/>
        </p:nvSpPr>
        <p:spPr>
          <a:xfrm>
            <a:off x="457200" y="329184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143000" y="324612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Factor identification is harder: 24 labels, imbalanced.</a:t>
            </a:r>
            <a:endParaRPr lang="en-US" sz="1500" dirty="0"/>
          </a:p>
          <a:p>
            <a:pPr algn="l" indent="0" marL="0">
              <a:buNone/>
            </a:pPr>
            <a:r>
              <a:rPr lang="en-US" sz="1300" dirty="0">
                <a:solidFill>
                  <a:schemeClr val="accent3"/>
                </a:solidFill>
              </a:rPr>
              <a:t>Macro F1 0.442.</a:t>
            </a:r>
            <a:endParaRPr lang="en-US" sz="1500" dirty="0"/>
          </a:p>
        </p:txBody>
      </p:sp>
      <p:sp>
        <p:nvSpPr>
          <p:cNvPr id="15" name="Shape 13"/>
          <p:cNvSpPr/>
          <p:nvPr/>
        </p:nvSpPr>
        <p:spPr>
          <a:xfrm>
            <a:off x="457200" y="402336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143000" y="397764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Per-factor thresholds beat a global 0.5.</a:t>
            </a:r>
            <a:endParaRPr lang="en-US" sz="1500" dirty="0"/>
          </a:p>
          <a:p>
            <a:pPr algn="l" indent="0" marL="0">
              <a:buNone/>
            </a:pPr>
            <a:r>
              <a:rPr lang="en-US" sz="1300" dirty="0">
                <a:solidFill>
                  <a:schemeClr val="accent3"/>
                </a:solidFill>
              </a:rPr>
              <a:t>+0.056 Macro F1 on one split; tuned on validation, so optimistic.</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Limitations and Responsible Use</a:t>
            </a:r>
            <a:endParaRPr lang="en-US" sz="3000" dirty="0"/>
          </a:p>
        </p:txBody>
      </p:sp>
      <p:sp>
        <p:nvSpPr>
          <p:cNvPr id="3" name="card"/>
          <p:cNvSpPr/>
          <p:nvPr/>
        </p:nvSpPr>
        <p:spPr>
          <a:xfrm>
            <a:off x="45720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320040"/>
          </a:xfrm>
          <a:prstGeom prst="rect">
            <a:avLst/>
          </a:prstGeom>
          <a:noFill/>
          <a:ln/>
        </p:spPr>
        <p:txBody>
          <a:bodyPr wrap="square" lIns="0" tIns="0" rIns="0" bIns="0" rtlCol="0" anchor="t"/>
          <a:lstStyle/>
          <a:p>
            <a:pPr algn="l" indent="0" marL="0">
              <a:buNone/>
            </a:pPr>
            <a:r>
              <a:rPr lang="en-US" sz="1600" b="1" dirty="0">
                <a:solidFill>
                  <a:schemeClr val="accent2"/>
                </a:solidFill>
              </a:rPr>
              <a:t>Technical limitations</a:t>
            </a:r>
            <a:endParaRPr lang="en-US" sz="1600" dirty="0"/>
          </a:p>
        </p:txBody>
      </p:sp>
      <p:sp>
        <p:nvSpPr>
          <p:cNvPr id="6" name="Text 4"/>
          <p:cNvSpPr txBox="1"/>
          <p:nvPr/>
        </p:nvSpPr>
        <p:spPr>
          <a:xfrm>
            <a:off x="64008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Small dataset: 1,635 posts from 153 users</a:t>
            </a:r>
            <a:endParaRPr lang="en-US" sz="1500" dirty="0"/>
          </a:p>
          <a:p>
            <a:pPr marL="342900" indent="-342900">
              <a:spcAft>
                <a:spcPts val="600"/>
              </a:spcAft>
              <a:buSzPct val="100000"/>
              <a:buChar char="•"/>
            </a:pPr>
            <a:r>
              <a:rPr lang="en-US" sz="1500" dirty="0">
                <a:solidFill>
                  <a:schemeClr val="tx1"/>
                </a:solidFill>
              </a:rPr>
              <a:t>Ambiguous, contextual, culture-dependent language</a:t>
            </a:r>
            <a:endParaRPr lang="en-US" sz="1500" dirty="0"/>
          </a:p>
          <a:p>
            <a:pPr marL="342900" indent="-342900">
              <a:spcAft>
                <a:spcPts val="600"/>
              </a:spcAft>
              <a:buSzPct val="100000"/>
              <a:buChar char="•"/>
            </a:pPr>
            <a:r>
              <a:rPr lang="en-US" sz="1500" dirty="0">
                <a:solidFill>
                  <a:schemeClr val="tx1"/>
                </a:solidFill>
              </a:rPr>
              <a:t>Factor prediction is weak (Macro F1 0.442) and tends to over-predict</a:t>
            </a:r>
            <a:endParaRPr lang="en-US" sz="1500" dirty="0"/>
          </a:p>
          <a:p>
            <a:pPr marL="342900" indent="-342900">
              <a:spcAft>
                <a:spcPts val="600"/>
              </a:spcAft>
              <a:buSzPct val="100000"/>
              <a:buChar char="•"/>
            </a:pPr>
            <a:r>
              <a:rPr lang="en-US" sz="1500" dirty="0">
                <a:solidFill>
                  <a:schemeClr val="tx1"/>
                </a:solidFill>
              </a:rPr>
              <a:t>Rare classes are weak (Attempt F1 0.415)</a:t>
            </a:r>
            <a:endParaRPr lang="en-US" sz="1500" dirty="0"/>
          </a:p>
          <a:p>
            <a:pPr marL="342900" indent="-342900">
              <a:spcAft>
                <a:spcPts val="600"/>
              </a:spcAft>
              <a:buSzPct val="100000"/>
              <a:buChar char="•"/>
            </a:pPr>
            <a:r>
              <a:rPr lang="en-US" sz="1500" dirty="0">
                <a:solidFill>
                  <a:schemeClr val="tx1"/>
                </a:solidFill>
              </a:rPr>
              <a:t>False positives and false negatives occur</a:t>
            </a:r>
            <a:endParaRPr lang="en-US" sz="1500" dirty="0"/>
          </a:p>
        </p:txBody>
      </p:sp>
      <p:sp>
        <p:nvSpPr>
          <p:cNvPr id="7" name="Text 5"/>
          <p:cNvSpPr txBox="1"/>
          <p:nvPr/>
        </p:nvSpPr>
        <p:spPr>
          <a:xfrm>
            <a:off x="4846320" y="1143000"/>
            <a:ext cx="3657600" cy="320040"/>
          </a:xfrm>
          <a:prstGeom prst="rect">
            <a:avLst/>
          </a:prstGeom>
          <a:noFill/>
          <a:ln/>
        </p:spPr>
        <p:txBody>
          <a:bodyPr wrap="square" lIns="0" tIns="0" rIns="0" bIns="0" rtlCol="0" anchor="t"/>
          <a:lstStyle/>
          <a:p>
            <a:pPr algn="l" indent="0" marL="0">
              <a:buNone/>
            </a:pPr>
            <a:r>
              <a:rPr lang="en-US" sz="1600" b="1" dirty="0">
                <a:solidFill>
                  <a:schemeClr val="accent1"/>
                </a:solidFill>
              </a:rPr>
              <a:t>Responsible use</a:t>
            </a:r>
            <a:endParaRPr lang="en-US" sz="1600" dirty="0"/>
          </a:p>
        </p:txBody>
      </p:sp>
      <p:sp>
        <p:nvSpPr>
          <p:cNvPr id="8" name="Text 6"/>
          <p:cNvSpPr txBox="1"/>
          <p:nvPr/>
        </p:nvSpPr>
        <p:spPr>
          <a:xfrm>
            <a:off x="484632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Decision support for trained human reviewers, not a replacement</a:t>
            </a:r>
            <a:endParaRPr lang="en-US" sz="1500" dirty="0"/>
          </a:p>
          <a:p>
            <a:pPr marL="342900" indent="-342900">
              <a:spcAft>
                <a:spcPts val="600"/>
              </a:spcAft>
              <a:buSzPct val="100000"/>
              <a:buChar char="•"/>
            </a:pPr>
            <a:r>
              <a:rPr lang="en-US" sz="1500" dirty="0">
                <a:solidFill>
                  <a:schemeClr val="tx1"/>
                </a:solidFill>
              </a:rPr>
              <a:t>Research prototype, not a clinical diagnostic tool</a:t>
            </a:r>
            <a:endParaRPr lang="en-US" sz="1500" dirty="0"/>
          </a:p>
          <a:p>
            <a:pPr marL="342900" indent="-342900">
              <a:spcAft>
                <a:spcPts val="600"/>
              </a:spcAft>
              <a:buSzPct val="100000"/>
              <a:buChar char="•"/>
            </a:pPr>
            <a:r>
              <a:rPr lang="en-US" sz="1500" dirty="0">
                <a:solidFill>
                  <a:schemeClr val="tx1"/>
                </a:solidFill>
              </a:rPr>
              <a:t>Not intended for autonomous action on individuals</a:t>
            </a:r>
            <a:endParaRPr lang="en-US" sz="1500" dirty="0"/>
          </a:p>
          <a:p>
            <a:pPr marL="342900" indent="-342900">
              <a:spcAft>
                <a:spcPts val="600"/>
              </a:spcAft>
              <a:buSzPct val="100000"/>
              <a:buChar char="•"/>
            </a:pPr>
            <a:r>
              <a:rPr lang="en-US" sz="1500" dirty="0">
                <a:solidFill>
                  <a:schemeClr val="tx1"/>
                </a:solidFill>
              </a:rPr>
              <a:t>Evidence spans keep every prediction auditable</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Future Research Directions</a:t>
            </a:r>
            <a:endParaRPr lang="en-US" sz="3000" dirty="0"/>
          </a:p>
        </p:txBody>
      </p:sp>
      <p:sp>
        <p:nvSpPr>
          <p:cNvPr id="3" name="card"/>
          <p:cNvSpPr/>
          <p:nvPr/>
        </p:nvSpPr>
        <p:spPr>
          <a:xfrm>
            <a:off x="45720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320040"/>
          </a:xfrm>
          <a:prstGeom prst="rect">
            <a:avLst/>
          </a:prstGeom>
          <a:noFill/>
          <a:ln/>
        </p:spPr>
        <p:txBody>
          <a:bodyPr wrap="square" lIns="0" tIns="0" rIns="0" bIns="0" rtlCol="0" anchor="t"/>
          <a:lstStyle/>
          <a:p>
            <a:pPr algn="l" indent="0" marL="0">
              <a:buNone/>
            </a:pPr>
            <a:r>
              <a:rPr lang="en-US" sz="1600" b="1" dirty="0">
                <a:solidFill>
                  <a:schemeClr val="accent5"/>
                </a:solidFill>
              </a:rPr>
              <a:t>Implemented, evaluation pending</a:t>
            </a:r>
            <a:endParaRPr lang="en-US" sz="1600" dirty="0"/>
          </a:p>
        </p:txBody>
      </p:sp>
      <p:sp>
        <p:nvSpPr>
          <p:cNvPr id="6" name="Text 4"/>
          <p:cNvSpPr txBox="1"/>
          <p:nvPr/>
        </p:nvSpPr>
        <p:spPr>
          <a:xfrm>
            <a:off x="640080" y="160020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DistilBERT risk classifier with learning-rate sweep</a:t>
            </a:r>
            <a:endParaRPr lang="en-US" sz="1600" dirty="0"/>
          </a:p>
          <a:p>
            <a:pPr marL="342900" indent="-342900">
              <a:spcAft>
                <a:spcPts val="600"/>
              </a:spcAft>
              <a:buSzPct val="100000"/>
              <a:buChar char="•"/>
            </a:pPr>
            <a:r>
              <a:rPr lang="en-US" sz="1600" dirty="0">
                <a:solidFill>
                  <a:schemeClr val="tx1"/>
                </a:solidFill>
              </a:rPr>
              <a:t>Multi-label DistilBERT factor model</a:t>
            </a:r>
            <a:endParaRPr lang="en-US" sz="1600" dirty="0"/>
          </a:p>
          <a:p>
            <a:pPr marL="342900" indent="-342900">
              <a:spcAft>
                <a:spcPts val="600"/>
              </a:spcAft>
              <a:buSzPct val="100000"/>
              <a:buChar char="•"/>
            </a:pPr>
            <a:r>
              <a:rPr lang="en-US" sz="1600" dirty="0">
                <a:solidFill>
                  <a:schemeClr val="tx1"/>
                </a:solidFill>
              </a:rPr>
              <a:t>Ensemble search with classical models</a:t>
            </a:r>
            <a:endParaRPr lang="en-US" sz="1600" dirty="0"/>
          </a:p>
        </p:txBody>
      </p:sp>
      <p:sp>
        <p:nvSpPr>
          <p:cNvPr id="7" name="Text 5"/>
          <p:cNvSpPr txBox="1"/>
          <p:nvPr/>
        </p:nvSpPr>
        <p:spPr>
          <a:xfrm>
            <a:off x="640080" y="3566160"/>
            <a:ext cx="3657600" cy="731520"/>
          </a:xfrm>
          <a:prstGeom prst="rect">
            <a:avLst/>
          </a:prstGeom>
          <a:noFill/>
          <a:ln/>
        </p:spPr>
        <p:txBody>
          <a:bodyPr wrap="square" lIns="0" tIns="0" rIns="0" bIns="0" rtlCol="0" anchor="t"/>
          <a:lstStyle/>
          <a:p>
            <a:pPr algn="l" indent="0" marL="0">
              <a:buNone/>
            </a:pPr>
            <a:r>
              <a:rPr lang="en-US" sz="1400" i="1" dirty="0">
                <a:solidFill>
                  <a:schemeClr val="accent3"/>
                </a:solidFill>
              </a:rPr>
              <a:t>Colab-ready; no Transformer score is reported here.</a:t>
            </a:r>
            <a:endParaRPr lang="en-US" sz="1400" dirty="0"/>
          </a:p>
        </p:txBody>
      </p:sp>
      <p:sp>
        <p:nvSpPr>
          <p:cNvPr id="8" name="Text 6"/>
          <p:cNvSpPr txBox="1"/>
          <p:nvPr/>
        </p:nvSpPr>
        <p:spPr>
          <a:xfrm>
            <a:off x="4846320" y="1143000"/>
            <a:ext cx="3657600" cy="320040"/>
          </a:xfrm>
          <a:prstGeom prst="rect">
            <a:avLst/>
          </a:prstGeom>
          <a:noFill/>
          <a:ln/>
        </p:spPr>
        <p:txBody>
          <a:bodyPr wrap="square" lIns="0" tIns="0" rIns="0" bIns="0" rtlCol="0" anchor="t"/>
          <a:lstStyle/>
          <a:p>
            <a:pPr algn="l" indent="0" marL="0">
              <a:buNone/>
            </a:pPr>
            <a:r>
              <a:rPr lang="en-US" sz="1600" b="1" dirty="0">
                <a:solidFill>
                  <a:schemeClr val="accent1"/>
                </a:solidFill>
              </a:rPr>
              <a:t>Next-stage research</a:t>
            </a:r>
            <a:endParaRPr lang="en-US" sz="1600" dirty="0"/>
          </a:p>
        </p:txBody>
      </p:sp>
      <p:sp>
        <p:nvSpPr>
          <p:cNvPr id="9"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Explainable Transformer methods</a:t>
            </a:r>
            <a:endParaRPr lang="en-US" sz="1500" dirty="0"/>
          </a:p>
          <a:p>
            <a:pPr marL="342900" indent="-342900">
              <a:spcAft>
                <a:spcPts val="600"/>
              </a:spcAft>
              <a:buSzPct val="100000"/>
              <a:buChar char="•"/>
            </a:pPr>
            <a:r>
              <a:rPr lang="en-US" sz="1500" dirty="0">
                <a:solidFill>
                  <a:schemeClr val="tx1"/>
                </a:solidFill>
              </a:rPr>
              <a:t>Calibration and uncertainty estimation</a:t>
            </a:r>
            <a:endParaRPr lang="en-US" sz="1500" dirty="0"/>
          </a:p>
          <a:p>
            <a:pPr marL="342900" indent="-342900">
              <a:spcAft>
                <a:spcPts val="600"/>
              </a:spcAft>
              <a:buSzPct val="100000"/>
              <a:buChar char="•"/>
            </a:pPr>
            <a:r>
              <a:rPr lang="en-US" sz="1500" dirty="0">
                <a:solidFill>
                  <a:schemeClr val="tx1"/>
                </a:solidFill>
              </a:rPr>
              <a:t>External validation on unseen datasets</a:t>
            </a:r>
            <a:endParaRPr lang="en-US" sz="1500" dirty="0"/>
          </a:p>
          <a:p>
            <a:pPr marL="342900" indent="-342900">
              <a:spcAft>
                <a:spcPts val="600"/>
              </a:spcAft>
              <a:buSzPct val="100000"/>
              <a:buChar char="•"/>
            </a:pPr>
            <a:r>
              <a:rPr lang="en-US" sz="1500" dirty="0">
                <a:solidFill>
                  <a:schemeClr val="tx1"/>
                </a:solidFill>
              </a:rPr>
              <a:t>More robust evidence extraction</a:t>
            </a:r>
            <a:endParaRPr lang="en-US" sz="1500" dirty="0"/>
          </a:p>
          <a:p>
            <a:pPr marL="342900" indent="-342900">
              <a:spcAft>
                <a:spcPts val="600"/>
              </a:spcAft>
              <a:buSzPct val="100000"/>
              <a:buChar char="•"/>
            </a:pPr>
            <a:r>
              <a:rPr lang="en-US" sz="1500" dirty="0">
                <a:solidFill>
                  <a:schemeClr val="tx1"/>
                </a:solidFill>
              </a:rPr>
              <a:t>Better multi-label factor prediction</a:t>
            </a:r>
            <a:endParaRPr lang="en-US" sz="1500" dirty="0"/>
          </a:p>
          <a:p>
            <a:pPr marL="342900" indent="-342900">
              <a:spcAft>
                <a:spcPts val="600"/>
              </a:spcAft>
              <a:buSzPct val="100000"/>
              <a:buChar char="•"/>
            </a:pPr>
            <a:r>
              <a:rPr lang="en-US" sz="1500" dirty="0">
                <a:solidFill>
                  <a:schemeClr val="tx1"/>
                </a:solidFill>
              </a:rPr>
              <a:t>Human-in-the-loop, fairness and bias analysis</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9144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371600"/>
            <a:ext cx="8046720" cy="18288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bg1"/>
                </a:solidFill>
              </a:rPr>
              <a:t>Explainable NLP pipeline for suicide-risk assessment</a:t>
            </a:r>
            <a:endParaRPr lang="en-US" sz="1700" dirty="0"/>
          </a:p>
          <a:p>
            <a:pPr marL="342900" indent="-342900">
              <a:spcAft>
                <a:spcPts val="600"/>
              </a:spcAft>
              <a:buSzPct val="100000"/>
              <a:buChar char="•"/>
            </a:pPr>
            <a:r>
              <a:rPr lang="en-US" sz="1700" dirty="0">
                <a:solidFill>
                  <a:schemeClr val="bg1"/>
                </a:solidFill>
              </a:rPr>
              <a:t>Jointly addresses risk classification, evidence extraction and factor identification</a:t>
            </a:r>
            <a:endParaRPr lang="en-US" sz="1700" dirty="0"/>
          </a:p>
          <a:p>
            <a:pPr marL="342900" indent="-342900">
              <a:spcAft>
                <a:spcPts val="600"/>
              </a:spcAft>
              <a:buSzPct val="100000"/>
              <a:buChar char="•"/>
            </a:pPr>
            <a:r>
              <a:rPr lang="en-US" sz="1700" dirty="0">
                <a:solidFill>
                  <a:schemeClr val="bg1"/>
                </a:solidFill>
              </a:rPr>
              <a:t>Risk model improved with richer TF-IDF features and multi-seed validation</a:t>
            </a:r>
            <a:endParaRPr lang="en-US" sz="1700" dirty="0"/>
          </a:p>
          <a:p>
            <a:pPr marL="342900" indent="-342900">
              <a:spcAft>
                <a:spcPts val="600"/>
              </a:spcAft>
              <a:buSzPct val="100000"/>
              <a:buChar char="•"/>
            </a:pPr>
            <a:r>
              <a:rPr lang="en-US" sz="1700" dirty="0">
                <a:solidFill>
                  <a:schemeClr val="bg1"/>
                </a:solidFill>
              </a:rPr>
              <a:t>Evidence is taken verbatim from the source post</a:t>
            </a:r>
            <a:endParaRPr lang="en-US" sz="1700" dirty="0"/>
          </a:p>
        </p:txBody>
      </p:sp>
      <p:sp>
        <p:nvSpPr>
          <p:cNvPr id="4" name="Text 2"/>
          <p:cNvSpPr txBox="1"/>
          <p:nvPr/>
        </p:nvSpPr>
        <p:spPr>
          <a:xfrm>
            <a:off x="548640" y="3246120"/>
            <a:ext cx="8046720" cy="457200"/>
          </a:xfrm>
          <a:prstGeom prst="rect">
            <a:avLst/>
          </a:prstGeom>
          <a:noFill/>
          <a:ln/>
        </p:spPr>
        <p:txBody>
          <a:bodyPr wrap="square" lIns="0" tIns="0" rIns="0" bIns="0" rtlCol="0" anchor="t"/>
          <a:lstStyle/>
          <a:p>
            <a:pPr algn="l" indent="0" marL="0">
              <a:buNone/>
            </a:pPr>
            <a:r>
              <a:rPr lang="en-US" sz="2000" i="1" dirty="0">
                <a:solidFill>
                  <a:schemeClr val="accent4"/>
                </a:solidFill>
              </a:rPr>
              <a:t>“Explainable AI should assist human judgment — not replace it.”</a:t>
            </a:r>
            <a:endParaRPr lang="en-US" sz="2000" dirty="0"/>
          </a:p>
        </p:txBody>
      </p:sp>
      <p:sp>
        <p:nvSpPr>
          <p:cNvPr id="5" name="Text 3"/>
          <p:cNvSpPr txBox="1"/>
          <p:nvPr/>
        </p:nvSpPr>
        <p:spPr>
          <a:xfrm>
            <a:off x="548640" y="4023360"/>
            <a:ext cx="8046720" cy="457200"/>
          </a:xfrm>
          <a:prstGeom prst="rect">
            <a:avLst/>
          </a:prstGeom>
          <a:noFill/>
          <a:ln/>
        </p:spPr>
        <p:txBody>
          <a:bodyPr wrap="square" lIns="0" tIns="0" rIns="0" bIns="0" rtlCol="0" anchor="t"/>
          <a:lstStyle/>
          <a:p>
            <a:pPr algn="l" indent="0" marL="0">
              <a:buNone/>
            </a:pPr>
            <a:r>
              <a:rPr lang="en-US" sz="2600" b="1" dirty="0">
                <a:solidFill>
                  <a:schemeClr val="bg1"/>
                </a:solidFill>
                <a:latin typeface="Cambria" pitchFamily="34" charset="0"/>
                <a:ea typeface="Cambria" pitchFamily="34" charset="-122"/>
                <a:cs typeface="Cambria" pitchFamily="34" charset="-120"/>
              </a:rPr>
              <a:t>Thank You  |  Questions?</a:t>
            </a:r>
            <a:endParaRPr lang="en-US" sz="2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NeuralForge IEEE">
  <a:themeElements>
    <a:clrScheme name="NeuralForge IEEE">
      <a:dk1>
        <a:srgbClr val="0B1F3A"/>
      </a:dk1>
      <a:lt1>
        <a:srgbClr val="FFFFFF"/>
      </a:lt1>
      <a:dk2>
        <a:srgbClr val="1F3A5F"/>
      </a:dk2>
      <a:lt2>
        <a:srgbClr val="EEF3F8"/>
      </a:lt2>
      <a:accent1>
        <a:srgbClr val="0FA3B1"/>
      </a:accent1>
      <a:accent2>
        <a:srgbClr val="B5443F"/>
      </a:accent2>
      <a:accent3>
        <a:srgbClr val="5B6B7F"/>
      </a:accent3>
      <a:accent4>
        <a:srgbClr val="7FD6DD"/>
      </a:accent4>
      <a:accent5>
        <a:srgbClr val="2E5E8C"/>
      </a:accent5>
      <a:accent6>
        <a:srgbClr val="D3DDE8"/>
      </a:accent6>
      <a:hlink>
        <a:srgbClr val="0FA3B1"/>
      </a:hlink>
      <a:folHlink>
        <a:srgbClr val="5B6B7F"/>
      </a:folHlink>
    </a:clrScheme>
    <a:fontScheme name="NeuralForge I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Suicide Risk Detection Using NLP</dc:title>
  <dc:subject>PptxGenJS Presentation</dc:subject>
  <dc:creator>SSN NeuralForge</dc:creator>
  <cp:lastModifiedBy>SSN NeuralForge</cp:lastModifiedBy>
  <cp:revision>1</cp:revision>
  <dcterms:created xsi:type="dcterms:W3CDTF">2026-10-08T08:08:49Z</dcterms:created>
  <dcterms:modified xsi:type="dcterms:W3CDTF">2026-10-08T08:08:49Z</dcterms:modified>
</cp:coreProperties>
</file>